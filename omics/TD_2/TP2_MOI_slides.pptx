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42"/>
    <a:srgbClr val="D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859"/>
    <p:restoredTop sz="96311"/>
  </p:normalViewPr>
  <p:slideViewPr>
    <p:cSldViewPr snapToGrid="0">
      <p:cViewPr varScale="1">
        <p:scale>
          <a:sx n="91" d="100"/>
          <a:sy n="91" d="100"/>
        </p:scale>
        <p:origin x="216" y="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D32D3F-2BB5-6D15-B76A-AD8F118F68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1341D53-1153-29C1-D70F-949B653F9B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034F9F-AD05-C28A-DCC9-9F5B2CBB4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DA090-F924-2941-892D-02E8D6743769}" type="datetimeFigureOut">
              <a:rPr lang="fr-FR" smtClean="0"/>
              <a:t>12/02/2024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5DC690-D38F-7CE5-2F49-14B628969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BA37392-2124-079B-A377-0B41B5EC0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635CB-D11E-3048-B9AB-EB5AE87630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1435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5AFBE5-70D7-7544-DFDF-EF3A08945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53B2AD-DEFA-AD0D-7C08-05A97DF31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E3C482E-0D03-7DB4-BE38-52F158E65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DA090-F924-2941-892D-02E8D6743769}" type="datetimeFigureOut">
              <a:rPr lang="fr-FR" smtClean="0"/>
              <a:t>12/02/2024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546FB9-4A92-F2FB-8F56-C156F2A23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FEAA768-E1BA-9A55-B697-B76ECA4F7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635CB-D11E-3048-B9AB-EB5AE87630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046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98B961-7ED4-D2FC-4F96-B7D18BFBF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21AE15B-A528-14FB-304E-6F856E34E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165FAA-B62C-AD2A-9CB3-5F6199DCB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DA090-F924-2941-892D-02E8D6743769}" type="datetimeFigureOut">
              <a:rPr lang="fr-FR" smtClean="0"/>
              <a:t>12/02/2024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8EAEB53-9449-8C6A-3983-BCB5AC7E7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75D03C-3CE7-5CBE-2D13-019453976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635CB-D11E-3048-B9AB-EB5AE87630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5929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4908B1-5729-0689-8CF9-C4B140675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995D77-3A29-9A46-A28F-0E51EAA1F0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1AB826C-CCA9-F425-87B3-4B64FF5AAC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9553760-73E9-EFF1-E906-A16868AE2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DA090-F924-2941-892D-02E8D6743769}" type="datetimeFigureOut">
              <a:rPr lang="fr-FR" smtClean="0"/>
              <a:t>12/02/2024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92D263D-A9E0-F42B-FB09-1FA9BD7FE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E9CF2FE-6318-D7CF-E342-115A92A8A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635CB-D11E-3048-B9AB-EB5AE87630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1655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3FCFD4-35D7-8D8C-138D-4E2B3037D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1C55391-9E5A-1CDB-5B9E-B72BA3246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779E021-D437-19FA-F4FC-59092F0B7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98FB444-42DD-2828-4948-F18497736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CE4833F-D939-54EF-7C6F-5B8FE6A035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584DCAD-D8F3-8E27-C915-FFAC8E39B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DA090-F924-2941-892D-02E8D6743769}" type="datetimeFigureOut">
              <a:rPr lang="fr-FR" smtClean="0"/>
              <a:t>12/02/2024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4128C23-DF00-1965-9C2C-93583950B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CC02D2D-BF24-EA58-F694-75F164F70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635CB-D11E-3048-B9AB-EB5AE87630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4058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853D6D-3097-AC79-0CA9-7D775AA37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5D9353F-C117-9CE3-511F-A806CFB5E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DA090-F924-2941-892D-02E8D6743769}" type="datetimeFigureOut">
              <a:rPr lang="fr-FR" smtClean="0"/>
              <a:t>12/02/2024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434059B-22A3-0A14-9A32-5EB6C416D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0CBE522-375F-B71E-5675-97477ECC2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635CB-D11E-3048-B9AB-EB5AE87630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8190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D0DCC06-F9B0-86F0-52DC-7D8CFF08B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DA090-F924-2941-892D-02E8D6743769}" type="datetimeFigureOut">
              <a:rPr lang="fr-FR" smtClean="0"/>
              <a:t>12/02/2024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5B2A79A-CAF9-FCED-763B-6E9E38C4E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8F9BC05-A683-C412-A15C-5019B5E38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635CB-D11E-3048-B9AB-EB5AE87630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3987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AAF4F7-4CE2-030B-4F45-F029A09A7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74A25CB-7656-BF11-EE3B-4A1FD15C2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899A52D-E6B9-F7A6-3380-7FBD9F4B6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81E12AF-5984-080C-8281-B82A086FC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DA090-F924-2941-892D-02E8D6743769}" type="datetimeFigureOut">
              <a:rPr lang="fr-FR" smtClean="0"/>
              <a:t>12/02/2024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7642168-9B38-49C4-A78D-A2A03D3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F2F6E62-3135-507B-9103-82D76FEB8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635CB-D11E-3048-B9AB-EB5AE87630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3403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4803DE-6C06-EFD6-32CF-0741941B1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327278D-42A1-9AAF-3C1F-8B421432D5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2CD6E68-146E-AA84-BDA8-4094B9A5B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40338D6-93E3-A90F-F92D-E4ECB046F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DA090-F924-2941-892D-02E8D6743769}" type="datetimeFigureOut">
              <a:rPr lang="fr-FR" smtClean="0"/>
              <a:t>12/02/2024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DA77FAB-B341-68D7-53C7-63C5D96AE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A8BE52D-FE9C-8C2D-1179-0A22583F0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635CB-D11E-3048-B9AB-EB5AE87630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80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7C9CC0-0168-E3FC-11B5-7BA47CFE1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69B5BD5-E9B1-69C3-F8B9-938A8B6EF4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71AECC0-8ECE-4E26-C9A3-7AF2E334C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DA090-F924-2941-892D-02E8D6743769}" type="datetimeFigureOut">
              <a:rPr lang="fr-FR" smtClean="0"/>
              <a:t>12/02/2024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9AA114-CBC5-4DF1-6C9C-BA51254E9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59C6B2-AA34-32CC-832F-C696DCB03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635CB-D11E-3048-B9AB-EB5AE87630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8139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6C3B10F-7FB1-5109-141C-E30FB8222D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4EE093F-EF0E-B036-4C42-C7B3BD142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A539FC-96F9-5173-F3E4-A86D54737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DA090-F924-2941-892D-02E8D6743769}" type="datetimeFigureOut">
              <a:rPr lang="fr-FR" smtClean="0"/>
              <a:t>12/02/2024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22B87D-7A9F-89F3-55F6-677892DD5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CB19424-C406-1DBB-811D-7A998AD0F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635CB-D11E-3048-B9AB-EB5AE87630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8238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B229F01-D6BC-55CB-6851-AB896C550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421DFAC-FFC8-3334-ADC8-89D8866F3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A568FE-1909-AAC8-D626-FB4407F05A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1DA090-F924-2941-892D-02E8D6743769}" type="datetimeFigureOut">
              <a:rPr lang="fr-FR" smtClean="0"/>
              <a:t>12/02/2024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7BA017D-6165-0AEB-077D-01B89BF459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BB23BC-4720-E83F-4623-EB23425B5A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8635CB-D11E-3048-B9AB-EB5AE87630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6960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doi.org/10.1016/j.jprot.2013.10.002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32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tif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DED675-F63E-C141-ED1E-7B88AA20F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183" y="1768405"/>
            <a:ext cx="10306877" cy="2387600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TP2: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Practical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experimentation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algorithms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for multi-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omics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integration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for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sample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stratification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F44772C-43B2-C095-3FC5-8849A68828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4404" y="4248080"/>
            <a:ext cx="9523596" cy="1655762"/>
          </a:xfrm>
        </p:spPr>
        <p:txBody>
          <a:bodyPr/>
          <a:lstStyle/>
          <a:p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13/02/2024</a:t>
            </a:r>
          </a:p>
        </p:txBody>
      </p:sp>
    </p:spTree>
    <p:extLst>
      <p:ext uri="{BB962C8B-B14F-4D97-AF65-F5344CB8AC3E}">
        <p14:creationId xmlns:p14="http://schemas.microsoft.com/office/powerpoint/2010/main" val="2017120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1C4873-3C28-A10C-878E-61E3CA597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Sample</a:t>
            </a:r>
            <a:r>
              <a:rPr lang="fr-FR" dirty="0"/>
              <a:t> stratification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CA13DBD-82D0-91A2-B5FF-0830DE7F2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576" y="5005632"/>
            <a:ext cx="2567432" cy="102057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0764DFD-A1EF-34D2-96D1-A74A5A2C0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454" y="4974048"/>
            <a:ext cx="2026920" cy="102057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8E5CC5B4-0BCA-4119-C271-EA4D6502E7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186" y="1400189"/>
            <a:ext cx="2579719" cy="1912365"/>
          </a:xfrm>
          <a:prstGeom prst="rect">
            <a:avLst/>
          </a:prstGeom>
        </p:spPr>
      </p:pic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CB52E90C-3075-5D9B-39BC-9A2D9D68C091}"/>
              </a:ext>
            </a:extLst>
          </p:cNvPr>
          <p:cNvCxnSpPr/>
          <p:nvPr/>
        </p:nvCxnSpPr>
        <p:spPr>
          <a:xfrm>
            <a:off x="6361705" y="3414473"/>
            <a:ext cx="0" cy="1028371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F32760F5-8CE3-C5E4-E94F-4ED7096E8B19}"/>
              </a:ext>
            </a:extLst>
          </p:cNvPr>
          <p:cNvCxnSpPr/>
          <p:nvPr/>
        </p:nvCxnSpPr>
        <p:spPr>
          <a:xfrm flipH="1">
            <a:off x="5157304" y="4479775"/>
            <a:ext cx="1204889" cy="68198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3796F7F2-FD05-928E-36EA-97511909B63D}"/>
              </a:ext>
            </a:extLst>
          </p:cNvPr>
          <p:cNvCxnSpPr/>
          <p:nvPr/>
        </p:nvCxnSpPr>
        <p:spPr>
          <a:xfrm>
            <a:off x="6361705" y="4479775"/>
            <a:ext cx="1048528" cy="76906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6EEBB260-BBFA-C9CF-8F18-44F4FE99EC06}"/>
              </a:ext>
            </a:extLst>
          </p:cNvPr>
          <p:cNvSpPr txBox="1"/>
          <p:nvPr/>
        </p:nvSpPr>
        <p:spPr>
          <a:xfrm>
            <a:off x="3010844" y="5982808"/>
            <a:ext cx="21008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Group A: i.e.,</a:t>
            </a:r>
          </a:p>
          <a:p>
            <a:pPr algn="ctr"/>
            <a:r>
              <a:rPr lang="en-US" sz="2400" dirty="0"/>
              <a:t>cancer samples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A7B8446-0A81-22E1-05F1-0F774ADD91E0}"/>
              </a:ext>
            </a:extLst>
          </p:cNvPr>
          <p:cNvSpPr txBox="1"/>
          <p:nvPr/>
        </p:nvSpPr>
        <p:spPr>
          <a:xfrm>
            <a:off x="7182337" y="6027003"/>
            <a:ext cx="22051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Group B: i.e.,</a:t>
            </a:r>
          </a:p>
          <a:p>
            <a:pPr algn="ctr"/>
            <a:r>
              <a:rPr lang="en-US" sz="2400" dirty="0"/>
              <a:t>healthy samples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49619251-C858-D859-5D30-93C473AFA0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7401" y="3854192"/>
            <a:ext cx="1308608" cy="128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764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38CBCA1-B5A2-AA96-725E-2231A1CB5917}"/>
              </a:ext>
            </a:extLst>
          </p:cNvPr>
          <p:cNvSpPr txBox="1"/>
          <p:nvPr/>
        </p:nvSpPr>
        <p:spPr>
          <a:xfrm>
            <a:off x="1837676" y="1647718"/>
            <a:ext cx="99326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To classify patients based on omics profiles and identify new cancer biomarkers.</a:t>
            </a:r>
          </a:p>
        </p:txBody>
      </p:sp>
      <p:pic>
        <p:nvPicPr>
          <p:cNvPr id="5" name="Image 4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9B0BE18A-2C24-CD49-C4DB-7703F07BB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541" y="1647718"/>
            <a:ext cx="843103" cy="843103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A448662E-3A4F-FC70-3472-823FE3089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/>
              <a:t>Goal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16C2879-B7B6-EE11-F7AA-0B04753DF6DC}"/>
              </a:ext>
            </a:extLst>
          </p:cNvPr>
          <p:cNvSpPr txBox="1"/>
          <p:nvPr/>
        </p:nvSpPr>
        <p:spPr>
          <a:xfrm>
            <a:off x="5299137" y="3732956"/>
            <a:ext cx="1983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BUT HOW ?</a:t>
            </a:r>
          </a:p>
        </p:txBody>
      </p:sp>
    </p:spTree>
    <p:extLst>
      <p:ext uri="{BB962C8B-B14F-4D97-AF65-F5344CB8AC3E}">
        <p14:creationId xmlns:p14="http://schemas.microsoft.com/office/powerpoint/2010/main" val="44920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D80DEBD9-5E3E-760B-8E3A-CC8FFBD73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/>
              <a:t>Workflow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79820561-D972-CB45-026F-D0EE0DC0BEC8}"/>
              </a:ext>
            </a:extLst>
          </p:cNvPr>
          <p:cNvGrpSpPr/>
          <p:nvPr/>
        </p:nvGrpSpPr>
        <p:grpSpPr>
          <a:xfrm>
            <a:off x="908069" y="1582935"/>
            <a:ext cx="10070761" cy="4502101"/>
            <a:chOff x="1986929" y="1980146"/>
            <a:chExt cx="7951957" cy="3468463"/>
          </a:xfrm>
        </p:grpSpPr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879C8A7E-B54C-0F4C-E0C3-AD07A04893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86929" y="1980146"/>
              <a:ext cx="7951957" cy="3468463"/>
            </a:xfrm>
            <a:prstGeom prst="rect">
              <a:avLst/>
            </a:prstGeom>
          </p:spPr>
        </p:pic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DF1478DE-B322-66D4-06CE-29D9CCAB9A07}"/>
                </a:ext>
              </a:extLst>
            </p:cNvPr>
            <p:cNvSpPr txBox="1"/>
            <p:nvPr/>
          </p:nvSpPr>
          <p:spPr>
            <a:xfrm>
              <a:off x="2068918" y="3458868"/>
              <a:ext cx="1424221" cy="26082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Omics</a:t>
              </a:r>
              <a:r>
                <a:rPr lang="fr-FR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 data</a:t>
              </a:r>
              <a:endParaRPr lang="fr-FR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3915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F02536-25D2-96F7-F050-0713E2D84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Step</a:t>
            </a:r>
            <a:r>
              <a:rPr lang="fr-FR" dirty="0"/>
              <a:t> 1: </a:t>
            </a:r>
            <a:r>
              <a:rPr lang="fr-FR" dirty="0" err="1"/>
              <a:t>Feature</a:t>
            </a:r>
            <a:r>
              <a:rPr lang="fr-FR" dirty="0"/>
              <a:t> </a:t>
            </a:r>
            <a:r>
              <a:rPr lang="fr-FR" dirty="0" err="1"/>
              <a:t>Selection</a:t>
            </a:r>
            <a:endParaRPr lang="fr-FR" dirty="0"/>
          </a:p>
        </p:txBody>
      </p:sp>
      <p:pic>
        <p:nvPicPr>
          <p:cNvPr id="1026" name="Picture 2" descr="Feature Selection Techniques in Machine Learning">
            <a:extLst>
              <a:ext uri="{FF2B5EF4-FFF2-40B4-BE49-F238E27FC236}">
                <a16:creationId xmlns:a16="http://schemas.microsoft.com/office/drawing/2014/main" id="{839403D3-58B7-48F4-7C82-DA356F31C3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78" r="47610" b="16986"/>
          <a:stretch/>
        </p:blipFill>
        <p:spPr bwMode="auto">
          <a:xfrm>
            <a:off x="4195858" y="3929432"/>
            <a:ext cx="2682528" cy="2889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eature Selection Techniques in Machine Learning">
            <a:extLst>
              <a:ext uri="{FF2B5EF4-FFF2-40B4-BE49-F238E27FC236}">
                <a16:creationId xmlns:a16="http://schemas.microsoft.com/office/drawing/2014/main" id="{5A4BBDBE-FB26-5EA2-80DC-A4FD2AF684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68" r="14697"/>
          <a:stretch/>
        </p:blipFill>
        <p:spPr bwMode="auto">
          <a:xfrm>
            <a:off x="1113781" y="3188254"/>
            <a:ext cx="3167239" cy="3452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eature Selection Techniques in Machine Learning">
            <a:extLst>
              <a:ext uri="{FF2B5EF4-FFF2-40B4-BE49-F238E27FC236}">
                <a16:creationId xmlns:a16="http://schemas.microsoft.com/office/drawing/2014/main" id="{27025A2E-47B4-2BB5-64DB-ABC93E3D90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72" r="3341" b="3428"/>
          <a:stretch/>
        </p:blipFill>
        <p:spPr bwMode="auto">
          <a:xfrm>
            <a:off x="7417426" y="3294052"/>
            <a:ext cx="3167239" cy="3452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D05886F6-0B9D-3813-37CF-558F0947651F}"/>
              </a:ext>
            </a:extLst>
          </p:cNvPr>
          <p:cNvSpPr txBox="1"/>
          <p:nvPr/>
        </p:nvSpPr>
        <p:spPr>
          <a:xfrm>
            <a:off x="247507" y="2084396"/>
            <a:ext cx="39842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 mains </a:t>
            </a:r>
            <a:r>
              <a:rPr lang="fr-FR" dirty="0" err="1"/>
              <a:t>categories</a:t>
            </a:r>
            <a:r>
              <a:rPr lang="fr-FR" dirty="0"/>
              <a:t> : </a:t>
            </a:r>
          </a:p>
          <a:p>
            <a:r>
              <a:rPr lang="fr-FR" dirty="0"/>
              <a:t>- </a:t>
            </a:r>
            <a:r>
              <a:rPr lang="fr-FR" dirty="0" err="1"/>
              <a:t>supervised</a:t>
            </a:r>
            <a:r>
              <a:rPr lang="fr-FR" dirty="0"/>
              <a:t> = use </a:t>
            </a:r>
            <a:r>
              <a:rPr lang="fr-FR" dirty="0" err="1"/>
              <a:t>labeled</a:t>
            </a:r>
            <a:r>
              <a:rPr lang="fr-FR" dirty="0"/>
              <a:t> data</a:t>
            </a:r>
          </a:p>
          <a:p>
            <a:r>
              <a:rPr lang="fr-FR" dirty="0"/>
              <a:t>- non-</a:t>
            </a:r>
            <a:r>
              <a:rPr lang="fr-FR" dirty="0" err="1"/>
              <a:t>supervised</a:t>
            </a:r>
            <a:r>
              <a:rPr lang="fr-FR" dirty="0"/>
              <a:t> = use </a:t>
            </a:r>
            <a:r>
              <a:rPr lang="fr-FR" dirty="0" err="1"/>
              <a:t>unlabeled</a:t>
            </a:r>
            <a:r>
              <a:rPr lang="fr-FR" dirty="0"/>
              <a:t> data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459F944-2BC8-E172-526D-988B1650E01B}"/>
              </a:ext>
            </a:extLst>
          </p:cNvPr>
          <p:cNvSpPr txBox="1"/>
          <p:nvPr/>
        </p:nvSpPr>
        <p:spPr>
          <a:xfrm>
            <a:off x="1113781" y="1547531"/>
            <a:ext cx="942540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b="1" dirty="0"/>
              <a:t>Feature selection </a:t>
            </a:r>
            <a:r>
              <a:rPr lang="en-US" sz="1800" dirty="0"/>
              <a:t>= selection of a subset of relevant features from the original set of features 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062532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B9FFD15C-A8BA-2450-ED3D-9515881CF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 err="1"/>
              <a:t>Step</a:t>
            </a:r>
            <a:r>
              <a:rPr lang="fr-FR" dirty="0"/>
              <a:t> 2: </a:t>
            </a:r>
            <a:r>
              <a:rPr lang="fr-FR" dirty="0" err="1"/>
              <a:t>Feature</a:t>
            </a:r>
            <a:r>
              <a:rPr lang="fr-FR" dirty="0"/>
              <a:t> Extraction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B74824B-C3D9-FF3B-491C-FB5FA6E06226}"/>
              </a:ext>
            </a:extLst>
          </p:cNvPr>
          <p:cNvSpPr txBox="1"/>
          <p:nvPr/>
        </p:nvSpPr>
        <p:spPr>
          <a:xfrm>
            <a:off x="787807" y="2717735"/>
            <a:ext cx="562791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/>
              <a:t>Examples of linear methods</a:t>
            </a:r>
            <a:r>
              <a:rPr lang="en-US" sz="1600" dirty="0"/>
              <a:t>: 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US" sz="1600" dirty="0"/>
              <a:t>High dimensional discriminant analysis (HDDA)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US" sz="1600" dirty="0"/>
              <a:t>Principal Component Analysis (PCA)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US" sz="1600" dirty="0"/>
              <a:t>Mixture of </a:t>
            </a:r>
            <a:r>
              <a:rPr lang="en-US" sz="1600" dirty="0" err="1"/>
              <a:t>probalistic</a:t>
            </a:r>
            <a:r>
              <a:rPr lang="en-US" sz="1600" dirty="0"/>
              <a:t> PCA (MPPCA)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US" sz="1600" dirty="0"/>
              <a:t>Factor analysis (FA)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US" sz="1600" dirty="0"/>
              <a:t>Linear Discriminant Analysis (LDA)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US" sz="1600" dirty="0"/>
              <a:t>Partial Least Squares Discriminant Analysis (PLS-DA)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b="1" dirty="0"/>
              <a:t>Examples of non-linear methods</a:t>
            </a:r>
            <a:r>
              <a:rPr lang="en-US" sz="1600" dirty="0"/>
              <a:t>: 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Gaussian Process Latent Variable Modeling (GPLVM)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Kernel PCA (KPCA)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Variational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</a:rPr>
              <a:t>AutoEncoder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 (VAE)</a:t>
            </a:r>
            <a:endParaRPr lang="en-US" sz="16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0F2804-E7B4-E5C0-3590-31A5EDB8B993}"/>
              </a:ext>
            </a:extLst>
          </p:cNvPr>
          <p:cNvSpPr txBox="1"/>
          <p:nvPr/>
        </p:nvSpPr>
        <p:spPr>
          <a:xfrm>
            <a:off x="380645" y="1669454"/>
            <a:ext cx="1097315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b="1" dirty="0"/>
              <a:t>Feature extraction </a:t>
            </a:r>
            <a:r>
              <a:rPr lang="en-US" sz="1800" dirty="0"/>
              <a:t>= extraction of relevant information from original data variables to create a novel reduced and more informative representation of data, also called latent representation.</a:t>
            </a:r>
          </a:p>
        </p:txBody>
      </p:sp>
      <p:pic>
        <p:nvPicPr>
          <p:cNvPr id="1026" name="Picture 2" descr="Linear Discriminant Analysis">
            <a:extLst>
              <a:ext uri="{FF2B5EF4-FFF2-40B4-BE49-F238E27FC236}">
                <a16:creationId xmlns:a16="http://schemas.microsoft.com/office/drawing/2014/main" id="{8A137529-BD73-4CF7-EA8B-4ED869FDD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9513" y="2552449"/>
            <a:ext cx="3654378" cy="1860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J. Imaging | Free Full-Text | Variational Autoencoder for Image-Based  Augmentation of Eye-Tracking Data">
            <a:extLst>
              <a:ext uri="{FF2B5EF4-FFF2-40B4-BE49-F238E27FC236}">
                <a16:creationId xmlns:a16="http://schemas.microsoft.com/office/drawing/2014/main" id="{279A9045-863E-A661-E1A1-7A0E7DF19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4168" y="4863986"/>
            <a:ext cx="2891951" cy="1801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BF5C23AE-47E0-5C61-C623-5DAC61EC7D16}"/>
              </a:ext>
            </a:extLst>
          </p:cNvPr>
          <p:cNvSpPr txBox="1"/>
          <p:nvPr/>
        </p:nvSpPr>
        <p:spPr>
          <a:xfrm>
            <a:off x="8535402" y="4627322"/>
            <a:ext cx="1223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Autoencoders</a:t>
            </a:r>
            <a:endParaRPr lang="fr-FR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307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59CB8A8C-97AF-B890-6925-A085F9051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 err="1"/>
              <a:t>Step</a:t>
            </a:r>
            <a:r>
              <a:rPr lang="fr-FR" dirty="0"/>
              <a:t> 3: Classification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BE257C6-A3B0-EF79-0DF2-EF4AB0B4FC0A}"/>
              </a:ext>
            </a:extLst>
          </p:cNvPr>
          <p:cNvSpPr txBox="1"/>
          <p:nvPr/>
        </p:nvSpPr>
        <p:spPr>
          <a:xfrm>
            <a:off x="747409" y="2797500"/>
            <a:ext cx="29815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 err="1"/>
              <a:t>Feature</a:t>
            </a:r>
            <a:r>
              <a:rPr lang="fr-FR" dirty="0"/>
              <a:t> Extraction </a:t>
            </a:r>
            <a:r>
              <a:rPr lang="fr-FR" dirty="0" err="1"/>
              <a:t>methods</a:t>
            </a:r>
            <a:r>
              <a:rPr lang="fr-FR" dirty="0"/>
              <a:t> have </a:t>
            </a:r>
            <a:r>
              <a:rPr lang="fr-FR" dirty="0" err="1"/>
              <a:t>their</a:t>
            </a:r>
            <a:r>
              <a:rPr lang="fr-FR" dirty="0"/>
              <a:t> </a:t>
            </a:r>
            <a:r>
              <a:rPr lang="fr-FR" dirty="0" err="1"/>
              <a:t>own</a:t>
            </a:r>
            <a:r>
              <a:rPr lang="fr-FR" dirty="0"/>
              <a:t> classification </a:t>
            </a:r>
            <a:r>
              <a:rPr lang="fr-FR" dirty="0" err="1"/>
              <a:t>method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8D71B96-4F87-DC14-BF64-B3322E007364}"/>
              </a:ext>
            </a:extLst>
          </p:cNvPr>
          <p:cNvSpPr txBox="1"/>
          <p:nvPr/>
        </p:nvSpPr>
        <p:spPr>
          <a:xfrm>
            <a:off x="7490296" y="2797500"/>
            <a:ext cx="40596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To </a:t>
            </a:r>
            <a:r>
              <a:rPr lang="fr-FR" dirty="0" err="1"/>
              <a:t>perform</a:t>
            </a:r>
            <a:r>
              <a:rPr lang="fr-FR" dirty="0"/>
              <a:t> classification, </a:t>
            </a:r>
            <a:r>
              <a:rPr lang="fr-FR" dirty="0" err="1"/>
              <a:t>you</a:t>
            </a:r>
            <a:r>
              <a:rPr lang="fr-FR" dirty="0"/>
              <a:t> can use </a:t>
            </a:r>
            <a:r>
              <a:rPr lang="fr-FR" dirty="0" err="1"/>
              <a:t>algorithms</a:t>
            </a:r>
            <a:r>
              <a:rPr lang="fr-FR" dirty="0"/>
              <a:t> as: </a:t>
            </a:r>
          </a:p>
          <a:p>
            <a:r>
              <a:rPr lang="fr-FR" dirty="0"/>
              <a:t>- </a:t>
            </a:r>
            <a:r>
              <a:rPr lang="fr-FR" dirty="0" err="1"/>
              <a:t>XGBoost</a:t>
            </a:r>
            <a:endParaRPr lang="fr-FR" dirty="0"/>
          </a:p>
          <a:p>
            <a:r>
              <a:rPr lang="fr-FR" dirty="0"/>
              <a:t>- </a:t>
            </a:r>
            <a:r>
              <a:rPr lang="fr-FR" dirty="0" err="1"/>
              <a:t>Random</a:t>
            </a:r>
            <a:r>
              <a:rPr lang="fr-FR" dirty="0"/>
              <a:t> Forest</a:t>
            </a:r>
          </a:p>
          <a:p>
            <a:r>
              <a:rPr lang="fr-FR" dirty="0"/>
              <a:t>- …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31E772F-883B-18F0-0260-153E206B6E91}"/>
              </a:ext>
            </a:extLst>
          </p:cNvPr>
          <p:cNvSpPr txBox="1"/>
          <p:nvPr/>
        </p:nvSpPr>
        <p:spPr>
          <a:xfrm>
            <a:off x="4961106" y="1690688"/>
            <a:ext cx="1903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 possible cases: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2ACEA879-FF0F-D3F9-52C6-89D62F9AA87F}"/>
              </a:ext>
            </a:extLst>
          </p:cNvPr>
          <p:cNvCxnSpPr/>
          <p:nvPr/>
        </p:nvCxnSpPr>
        <p:spPr>
          <a:xfrm flipH="1">
            <a:off x="2373549" y="2120630"/>
            <a:ext cx="3539228" cy="5836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06019D7C-505E-256E-1CE4-1C4323A8F9EE}"/>
              </a:ext>
            </a:extLst>
          </p:cNvPr>
          <p:cNvCxnSpPr/>
          <p:nvPr/>
        </p:nvCxnSpPr>
        <p:spPr>
          <a:xfrm>
            <a:off x="5912777" y="2120630"/>
            <a:ext cx="3555478" cy="5836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Accolade fermante 10">
            <a:extLst>
              <a:ext uri="{FF2B5EF4-FFF2-40B4-BE49-F238E27FC236}">
                <a16:creationId xmlns:a16="http://schemas.microsoft.com/office/drawing/2014/main" id="{03A3B163-809D-F3F7-F3CE-082779013592}"/>
              </a:ext>
            </a:extLst>
          </p:cNvPr>
          <p:cNvSpPr/>
          <p:nvPr/>
        </p:nvSpPr>
        <p:spPr>
          <a:xfrm rot="5400000">
            <a:off x="5687439" y="-294670"/>
            <a:ext cx="817121" cy="10606391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" name="Image 12" descr="Une image contenant capture d’écran, cercle, Graphique, symbole&#10;&#10;Description générée automatiquement">
            <a:extLst>
              <a:ext uri="{FF2B5EF4-FFF2-40B4-BE49-F238E27FC236}">
                <a16:creationId xmlns:a16="http://schemas.microsoft.com/office/drawing/2014/main" id="{A26FCA04-1F57-693D-5DE1-759D828B7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442" y="2684715"/>
            <a:ext cx="1558047" cy="1558047"/>
          </a:xfrm>
          <a:prstGeom prst="rect">
            <a:avLst/>
          </a:prstGeom>
        </p:spPr>
      </p:pic>
      <p:pic>
        <p:nvPicPr>
          <p:cNvPr id="15" name="Image 14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C76CBCE6-8A72-746F-2824-55211A42A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4073" y="5586903"/>
            <a:ext cx="969561" cy="969561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15E92EA3-FB0F-1B7C-482E-3676482CB1E3}"/>
              </a:ext>
            </a:extLst>
          </p:cNvPr>
          <p:cNvSpPr txBox="1"/>
          <p:nvPr/>
        </p:nvSpPr>
        <p:spPr>
          <a:xfrm>
            <a:off x="4597941" y="5938899"/>
            <a:ext cx="4980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Compute</a:t>
            </a:r>
            <a:r>
              <a:rPr lang="fr-FR" dirty="0"/>
              <a:t> </a:t>
            </a:r>
            <a:r>
              <a:rPr lang="fr-FR" dirty="0" err="1"/>
              <a:t>metrics</a:t>
            </a:r>
            <a:r>
              <a:rPr lang="fr-FR" dirty="0"/>
              <a:t> to asses model performances </a:t>
            </a:r>
          </a:p>
        </p:txBody>
      </p:sp>
    </p:spTree>
    <p:extLst>
      <p:ext uri="{BB962C8B-B14F-4D97-AF65-F5344CB8AC3E}">
        <p14:creationId xmlns:p14="http://schemas.microsoft.com/office/powerpoint/2010/main" val="2024454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BFDEBB-74B5-20C7-A004-436831365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Omics</a:t>
            </a:r>
            <a:r>
              <a:rPr lang="fr-FR" dirty="0"/>
              <a:t> 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2FC682-621F-88BA-22D2-7B8C0EB8460E}"/>
              </a:ext>
            </a:extLst>
          </p:cNvPr>
          <p:cNvSpPr/>
          <p:nvPr/>
        </p:nvSpPr>
        <p:spPr>
          <a:xfrm>
            <a:off x="605769" y="2102391"/>
            <a:ext cx="2563693" cy="58580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CA83186-37DF-4C04-E1CF-4BBAFE319BB7}"/>
              </a:ext>
            </a:extLst>
          </p:cNvPr>
          <p:cNvSpPr txBox="1"/>
          <p:nvPr/>
        </p:nvSpPr>
        <p:spPr>
          <a:xfrm>
            <a:off x="675369" y="2194942"/>
            <a:ext cx="1965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Transcriptomics</a:t>
            </a:r>
          </a:p>
        </p:txBody>
      </p:sp>
      <p:pic>
        <p:nvPicPr>
          <p:cNvPr id="6" name="Image 5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15F551A3-FBE5-0330-6589-4F8D6BE2C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560477">
            <a:off x="2318245" y="1978737"/>
            <a:ext cx="832520" cy="83252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20CBAFA6-D769-174F-F0FB-DE0A7966B8A4}"/>
              </a:ext>
            </a:extLst>
          </p:cNvPr>
          <p:cNvSpPr txBox="1"/>
          <p:nvPr/>
        </p:nvSpPr>
        <p:spPr>
          <a:xfrm>
            <a:off x="971515" y="3938682"/>
            <a:ext cx="189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Gene expression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75DF1A-46D2-B6E8-2EBF-E3EEED484AF3}"/>
              </a:ext>
            </a:extLst>
          </p:cNvPr>
          <p:cNvSpPr/>
          <p:nvPr/>
        </p:nvSpPr>
        <p:spPr>
          <a:xfrm>
            <a:off x="4553274" y="2102391"/>
            <a:ext cx="2294414" cy="58580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49CD7CC-1393-7AEB-B49D-FAE5A98CDB38}"/>
              </a:ext>
            </a:extLst>
          </p:cNvPr>
          <p:cNvSpPr txBox="1"/>
          <p:nvPr/>
        </p:nvSpPr>
        <p:spPr>
          <a:xfrm>
            <a:off x="4622873" y="2194942"/>
            <a:ext cx="14501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Proteomics</a:t>
            </a:r>
          </a:p>
        </p:txBody>
      </p:sp>
      <p:pic>
        <p:nvPicPr>
          <p:cNvPr id="11" name="Image 10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5B3483C2-23CB-57BF-55C6-AE91D113E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243221">
            <a:off x="5940181" y="1922446"/>
            <a:ext cx="859336" cy="85933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3753698-CA4A-37F2-0435-6E63B4C6CC53}"/>
              </a:ext>
            </a:extLst>
          </p:cNvPr>
          <p:cNvSpPr/>
          <p:nvPr/>
        </p:nvSpPr>
        <p:spPr>
          <a:xfrm>
            <a:off x="7982845" y="2102659"/>
            <a:ext cx="2692800" cy="5855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8A9FC00-BBC2-6255-06E4-07D24D26E99D}"/>
              </a:ext>
            </a:extLst>
          </p:cNvPr>
          <p:cNvSpPr txBox="1"/>
          <p:nvPr/>
        </p:nvSpPr>
        <p:spPr>
          <a:xfrm>
            <a:off x="8047225" y="2214699"/>
            <a:ext cx="17722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Metabolomics</a:t>
            </a:r>
          </a:p>
        </p:txBody>
      </p:sp>
      <p:pic>
        <p:nvPicPr>
          <p:cNvPr id="14" name="Image 13" descr="Une image contenant capture d’écran, conception, pixel&#10;&#10;Description générée automatiquement">
            <a:extLst>
              <a:ext uri="{FF2B5EF4-FFF2-40B4-BE49-F238E27FC236}">
                <a16:creationId xmlns:a16="http://schemas.microsoft.com/office/drawing/2014/main" id="{545F5E93-2725-4BE9-B157-0385608D0C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7367" y="1890441"/>
            <a:ext cx="1028878" cy="1028878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9F85515A-A164-E374-325E-8A183FED58E2}"/>
              </a:ext>
            </a:extLst>
          </p:cNvPr>
          <p:cNvSpPr txBox="1"/>
          <p:nvPr/>
        </p:nvSpPr>
        <p:spPr>
          <a:xfrm>
            <a:off x="4602777" y="3938682"/>
            <a:ext cx="2325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Protein</a:t>
            </a:r>
            <a:r>
              <a:rPr lang="fr-FR" dirty="0"/>
              <a:t> quantification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25907A9-3944-D86E-1D5F-9F7AF8903977}"/>
              </a:ext>
            </a:extLst>
          </p:cNvPr>
          <p:cNvSpPr txBox="1"/>
          <p:nvPr/>
        </p:nvSpPr>
        <p:spPr>
          <a:xfrm>
            <a:off x="8203557" y="3938682"/>
            <a:ext cx="2686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Metabolite</a:t>
            </a:r>
            <a:r>
              <a:rPr lang="fr-FR" dirty="0"/>
              <a:t> quantification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612AF92-1C93-64DF-CD3E-03FF92800115}"/>
              </a:ext>
            </a:extLst>
          </p:cNvPr>
          <p:cNvSpPr txBox="1"/>
          <p:nvPr/>
        </p:nvSpPr>
        <p:spPr>
          <a:xfrm>
            <a:off x="5668003" y="5870140"/>
            <a:ext cx="1784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Find</a:t>
            </a:r>
            <a:r>
              <a:rPr lang="fr-FR" dirty="0"/>
              <a:t> </a:t>
            </a:r>
            <a:r>
              <a:rPr lang="fr-FR" dirty="0" err="1"/>
              <a:t>biomarkers</a:t>
            </a:r>
            <a:endParaRPr lang="fr-FR" dirty="0"/>
          </a:p>
        </p:txBody>
      </p:sp>
      <p:sp>
        <p:nvSpPr>
          <p:cNvPr id="18" name="Accolade fermante 17">
            <a:extLst>
              <a:ext uri="{FF2B5EF4-FFF2-40B4-BE49-F238E27FC236}">
                <a16:creationId xmlns:a16="http://schemas.microsoft.com/office/drawing/2014/main" id="{7695C478-E327-47B3-A108-61FEE69A6337}"/>
              </a:ext>
            </a:extLst>
          </p:cNvPr>
          <p:cNvSpPr/>
          <p:nvPr/>
        </p:nvSpPr>
        <p:spPr>
          <a:xfrm rot="5400000">
            <a:off x="5766068" y="-245537"/>
            <a:ext cx="432289" cy="1061369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CCDAC59F-FF5D-C0C6-8305-2687927894BC}"/>
              </a:ext>
            </a:extLst>
          </p:cNvPr>
          <p:cNvCxnSpPr/>
          <p:nvPr/>
        </p:nvCxnSpPr>
        <p:spPr>
          <a:xfrm>
            <a:off x="1838848" y="2899553"/>
            <a:ext cx="0" cy="8685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566ABF1A-EF86-3098-45DC-27E6DF694433}"/>
              </a:ext>
            </a:extLst>
          </p:cNvPr>
          <p:cNvCxnSpPr/>
          <p:nvPr/>
        </p:nvCxnSpPr>
        <p:spPr>
          <a:xfrm>
            <a:off x="5814036" y="2919319"/>
            <a:ext cx="0" cy="8685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F0DE3398-9FDF-4981-9244-F21DBE630AEB}"/>
              </a:ext>
            </a:extLst>
          </p:cNvPr>
          <p:cNvCxnSpPr/>
          <p:nvPr/>
        </p:nvCxnSpPr>
        <p:spPr>
          <a:xfrm>
            <a:off x="9617367" y="2919319"/>
            <a:ext cx="0" cy="8685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050" name="Picture 2" descr="What are biomarkers and why are they important? - ElmediX">
            <a:extLst>
              <a:ext uri="{FF2B5EF4-FFF2-40B4-BE49-F238E27FC236}">
                <a16:creationId xmlns:a16="http://schemas.microsoft.com/office/drawing/2014/main" id="{73B94CBE-FE43-CE02-4192-D230FA53C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4070" y="5221181"/>
            <a:ext cx="1784464" cy="1619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3392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ABAD6A-16DD-FCF1-74C3-A0E4D2B20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Query</a:t>
            </a:r>
            <a:r>
              <a:rPr lang="fr-FR" dirty="0"/>
              <a:t> the TCGA </a:t>
            </a:r>
            <a:r>
              <a:rPr lang="fr-FR" dirty="0" err="1"/>
              <a:t>database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R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D517FDB-3F5B-0079-B4A5-B1FC575927A6}"/>
              </a:ext>
            </a:extLst>
          </p:cNvPr>
          <p:cNvSpPr txBox="1"/>
          <p:nvPr/>
        </p:nvSpPr>
        <p:spPr>
          <a:xfrm>
            <a:off x="144380" y="1608794"/>
            <a:ext cx="118321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/>
              <a:t>Example</a:t>
            </a:r>
            <a:r>
              <a:rPr lang="fr-FR" dirty="0"/>
              <a:t>: I </a:t>
            </a:r>
            <a:r>
              <a:rPr lang="fr-FR" dirty="0" err="1"/>
              <a:t>would</a:t>
            </a:r>
            <a:r>
              <a:rPr lang="fr-FR" dirty="0"/>
              <a:t> like to download TCGA data on </a:t>
            </a:r>
            <a:r>
              <a:rPr lang="fr-FR" dirty="0" err="1"/>
              <a:t>breast</a:t>
            </a:r>
            <a:r>
              <a:rPr lang="fr-FR" dirty="0"/>
              <a:t> cancer.</a:t>
            </a:r>
          </a:p>
          <a:p>
            <a:r>
              <a:rPr lang="fr-FR" dirty="0" err="1"/>
              <a:t>After</a:t>
            </a:r>
            <a:r>
              <a:rPr lang="fr-FR" dirty="0"/>
              <a:t> </a:t>
            </a:r>
            <a:r>
              <a:rPr lang="fr-FR" dirty="0" err="1"/>
              <a:t>some</a:t>
            </a:r>
            <a:r>
              <a:rPr lang="fr-FR" dirty="0"/>
              <a:t> </a:t>
            </a:r>
            <a:r>
              <a:rPr lang="fr-FR" dirty="0" err="1"/>
              <a:t>research</a:t>
            </a:r>
            <a:r>
              <a:rPr lang="fr-FR" dirty="0"/>
              <a:t>, I </a:t>
            </a:r>
            <a:r>
              <a:rPr lang="fr-FR" dirty="0" err="1"/>
              <a:t>discovered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data on invasive </a:t>
            </a:r>
            <a:r>
              <a:rPr lang="fr-FR" dirty="0" err="1"/>
              <a:t>breast</a:t>
            </a:r>
            <a:r>
              <a:rPr lang="fr-FR" dirty="0"/>
              <a:t> </a:t>
            </a:r>
            <a:r>
              <a:rPr lang="fr-FR" dirty="0" err="1"/>
              <a:t>carcinoma</a:t>
            </a:r>
            <a:r>
              <a:rPr lang="fr-FR" dirty="0"/>
              <a:t> are </a:t>
            </a:r>
            <a:r>
              <a:rPr lang="fr-FR" dirty="0" err="1"/>
              <a:t>available</a:t>
            </a:r>
            <a:r>
              <a:rPr lang="fr-FR" dirty="0"/>
              <a:t> and </a:t>
            </a:r>
            <a:r>
              <a:rPr lang="fr-FR" dirty="0" err="1"/>
              <a:t>that</a:t>
            </a:r>
            <a:r>
              <a:rPr lang="fr-FR" dirty="0"/>
              <a:t> the </a:t>
            </a:r>
            <a:r>
              <a:rPr lang="fr-FR" dirty="0" err="1"/>
              <a:t>project</a:t>
            </a:r>
            <a:r>
              <a:rPr lang="fr-FR" dirty="0"/>
              <a:t> identifier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i="1" dirty="0"/>
              <a:t>TCGA-BRCA</a:t>
            </a:r>
            <a:r>
              <a:rPr lang="fr-FR" dirty="0"/>
              <a:t>.</a:t>
            </a:r>
            <a:endParaRPr lang="fr-FR" i="1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913889E-3E1C-936A-8996-A440A410C11B}"/>
              </a:ext>
            </a:extLst>
          </p:cNvPr>
          <p:cNvSpPr txBox="1"/>
          <p:nvPr/>
        </p:nvSpPr>
        <p:spPr>
          <a:xfrm>
            <a:off x="419383" y="3448714"/>
            <a:ext cx="4613251" cy="17543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err="1"/>
              <a:t>library</a:t>
            </a:r>
            <a:r>
              <a:rPr lang="fr-FR" dirty="0"/>
              <a:t>(</a:t>
            </a:r>
            <a:r>
              <a:rPr lang="fr-FR" dirty="0" err="1"/>
              <a:t>TCGAbiolinks</a:t>
            </a:r>
            <a:r>
              <a:rPr lang="fr-FR" dirty="0"/>
              <a:t>)</a:t>
            </a:r>
          </a:p>
          <a:p>
            <a:r>
              <a:rPr lang="fr-FR" dirty="0" err="1"/>
              <a:t>library</a:t>
            </a:r>
            <a:r>
              <a:rPr lang="fr-FR" dirty="0"/>
              <a:t>(</a:t>
            </a:r>
            <a:r>
              <a:rPr lang="fr-FR" dirty="0" err="1"/>
              <a:t>SummarizedExperiment</a:t>
            </a:r>
            <a:r>
              <a:rPr lang="fr-FR" dirty="0"/>
              <a:t>)</a:t>
            </a:r>
          </a:p>
          <a:p>
            <a:r>
              <a:rPr lang="fr-FR" dirty="0" err="1"/>
              <a:t>library</a:t>
            </a:r>
            <a:r>
              <a:rPr lang="fr-FR" dirty="0"/>
              <a:t>(</a:t>
            </a:r>
            <a:r>
              <a:rPr lang="fr-FR" dirty="0" err="1"/>
              <a:t>dplyr</a:t>
            </a:r>
            <a:r>
              <a:rPr lang="fr-FR" dirty="0"/>
              <a:t>)</a:t>
            </a:r>
          </a:p>
          <a:p>
            <a:endParaRPr lang="fr-FR" dirty="0"/>
          </a:p>
          <a:p>
            <a:r>
              <a:rPr lang="fr-FR" dirty="0" err="1"/>
              <a:t>clinical</a:t>
            </a:r>
            <a:r>
              <a:rPr lang="fr-FR" dirty="0"/>
              <a:t> &lt;- </a:t>
            </a:r>
            <a:r>
              <a:rPr lang="fr-FR" dirty="0" err="1"/>
              <a:t>GDCquery_clinic</a:t>
            </a:r>
            <a:r>
              <a:rPr lang="fr-FR" dirty="0"/>
              <a:t>("TCGA-BRCA")</a:t>
            </a:r>
          </a:p>
          <a:p>
            <a:r>
              <a:rPr lang="fr-FR" dirty="0" err="1"/>
              <a:t>head</a:t>
            </a:r>
            <a:r>
              <a:rPr lang="fr-FR" dirty="0"/>
              <a:t>(</a:t>
            </a:r>
            <a:r>
              <a:rPr lang="fr-FR" dirty="0" err="1"/>
              <a:t>clinical</a:t>
            </a:r>
            <a:r>
              <a:rPr lang="fr-FR" dirty="0"/>
              <a:t>)</a:t>
            </a:r>
          </a:p>
        </p:txBody>
      </p:sp>
      <p:pic>
        <p:nvPicPr>
          <p:cNvPr id="8" name="Image 7" descr="Une image contenant texte, reçu, capture d’écran, Police&#10;&#10;Description générée automatiquement">
            <a:extLst>
              <a:ext uri="{FF2B5EF4-FFF2-40B4-BE49-F238E27FC236}">
                <a16:creationId xmlns:a16="http://schemas.microsoft.com/office/drawing/2014/main" id="{D447FDCC-5166-6BB6-3A6C-EC2E36AA9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134" y="5403976"/>
            <a:ext cx="8826352" cy="1227949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CC22F3D2-3674-68F4-0251-74C75415BF03}"/>
              </a:ext>
            </a:extLst>
          </p:cNvPr>
          <p:cNvSpPr txBox="1"/>
          <p:nvPr/>
        </p:nvSpPr>
        <p:spPr>
          <a:xfrm>
            <a:off x="6408818" y="3448714"/>
            <a:ext cx="4613251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err="1"/>
              <a:t>colnames</a:t>
            </a:r>
            <a:r>
              <a:rPr lang="fr-FR" dirty="0"/>
              <a:t>(</a:t>
            </a:r>
            <a:r>
              <a:rPr lang="fr-FR" dirty="0" err="1"/>
              <a:t>clinical</a:t>
            </a:r>
            <a:r>
              <a:rPr lang="fr-FR" dirty="0"/>
              <a:t>)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28C9C65-51CC-B787-2DEC-16D5A0787328}"/>
              </a:ext>
            </a:extLst>
          </p:cNvPr>
          <p:cNvSpPr txBox="1"/>
          <p:nvPr/>
        </p:nvSpPr>
        <p:spPr>
          <a:xfrm>
            <a:off x="646268" y="2839453"/>
            <a:ext cx="4467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Get</a:t>
            </a:r>
            <a:r>
              <a:rPr lang="fr-FR" dirty="0"/>
              <a:t> </a:t>
            </a:r>
            <a:r>
              <a:rPr lang="fr-FR" dirty="0" err="1"/>
              <a:t>clinical</a:t>
            </a:r>
            <a:r>
              <a:rPr lang="fr-FR" dirty="0"/>
              <a:t> information on BRCA </a:t>
            </a:r>
            <a:r>
              <a:rPr lang="fr-FR" dirty="0" err="1"/>
              <a:t>project</a:t>
            </a:r>
            <a:endParaRPr lang="fr-FR" dirty="0"/>
          </a:p>
        </p:txBody>
      </p:sp>
      <p:pic>
        <p:nvPicPr>
          <p:cNvPr id="5" name="Image 4" descr="Une image contenant texte, menu, document, reçu&#10;&#10;Description générée automatiquement">
            <a:extLst>
              <a:ext uri="{FF2B5EF4-FFF2-40B4-BE49-F238E27FC236}">
                <a16:creationId xmlns:a16="http://schemas.microsoft.com/office/drawing/2014/main" id="{6C1B1BA6-F507-E7AC-B7C0-2736D9C1B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818" y="4108576"/>
            <a:ext cx="50800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597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157DCA8D-0806-5B51-C74A-F99DD6289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 err="1"/>
              <a:t>Query</a:t>
            </a:r>
            <a:r>
              <a:rPr lang="fr-FR" dirty="0"/>
              <a:t> the TCGA </a:t>
            </a:r>
            <a:r>
              <a:rPr lang="fr-FR" dirty="0" err="1"/>
              <a:t>database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R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1DB5ED8-A5F2-1F72-2425-2026D494A2DB}"/>
              </a:ext>
            </a:extLst>
          </p:cNvPr>
          <p:cNvSpPr txBox="1"/>
          <p:nvPr/>
        </p:nvSpPr>
        <p:spPr>
          <a:xfrm>
            <a:off x="254380" y="2006947"/>
            <a:ext cx="5919539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err="1"/>
              <a:t>TCGAbiolinks</a:t>
            </a:r>
            <a:r>
              <a:rPr lang="fr-FR" dirty="0"/>
              <a:t>:::</a:t>
            </a:r>
            <a:r>
              <a:rPr lang="fr-FR" dirty="0" err="1"/>
              <a:t>getProjectSummary</a:t>
            </a:r>
            <a:r>
              <a:rPr lang="fr-FR" dirty="0"/>
              <a:t>("TCGA-BRCA")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B62E750-AD64-3573-62DA-51B1C65EE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538" y="2454968"/>
            <a:ext cx="3616266" cy="199328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AC406203-47B9-B23C-D04C-09E32AEC19DA}"/>
              </a:ext>
            </a:extLst>
          </p:cNvPr>
          <p:cNvSpPr txBox="1"/>
          <p:nvPr/>
        </p:nvSpPr>
        <p:spPr>
          <a:xfrm>
            <a:off x="254380" y="5211930"/>
            <a:ext cx="5919539" cy="1477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err="1"/>
              <a:t>query_TCGA</a:t>
            </a:r>
            <a:r>
              <a:rPr lang="fr-FR" dirty="0"/>
              <a:t> = </a:t>
            </a:r>
            <a:r>
              <a:rPr lang="fr-FR" dirty="0" err="1"/>
              <a:t>GDCquery</a:t>
            </a:r>
            <a:r>
              <a:rPr lang="fr-FR" dirty="0"/>
              <a:t>(</a:t>
            </a:r>
          </a:p>
          <a:p>
            <a:r>
              <a:rPr lang="fr-FR" dirty="0"/>
              <a:t>  </a:t>
            </a:r>
            <a:r>
              <a:rPr lang="fr-FR" dirty="0" err="1"/>
              <a:t>project</a:t>
            </a:r>
            <a:r>
              <a:rPr lang="fr-FR" dirty="0"/>
              <a:t> = "TCGA-BRCA",</a:t>
            </a:r>
          </a:p>
          <a:p>
            <a:r>
              <a:rPr lang="fr-FR" dirty="0"/>
              <a:t>  </a:t>
            </a:r>
            <a:r>
              <a:rPr lang="fr-FR" dirty="0" err="1"/>
              <a:t>data.category</a:t>
            </a:r>
            <a:r>
              <a:rPr lang="fr-FR" dirty="0"/>
              <a:t> = "Transcriptome Profiling",</a:t>
            </a:r>
          </a:p>
          <a:p>
            <a:r>
              <a:rPr lang="fr-FR" dirty="0"/>
              <a:t>  </a:t>
            </a:r>
            <a:r>
              <a:rPr lang="fr-FR" dirty="0" err="1"/>
              <a:t>experimental.strategy</a:t>
            </a:r>
            <a:r>
              <a:rPr lang="fr-FR" dirty="0"/>
              <a:t> = "RNA-Seq",</a:t>
            </a:r>
          </a:p>
          <a:p>
            <a:r>
              <a:rPr lang="fr-FR" dirty="0"/>
              <a:t>  </a:t>
            </a:r>
            <a:r>
              <a:rPr lang="fr-FR" dirty="0" err="1"/>
              <a:t>workflow.type</a:t>
            </a:r>
            <a:r>
              <a:rPr lang="fr-FR" dirty="0"/>
              <a:t> = "STAR - </a:t>
            </a:r>
            <a:r>
              <a:rPr lang="fr-FR" dirty="0" err="1"/>
              <a:t>Counts</a:t>
            </a:r>
            <a:r>
              <a:rPr lang="fr-FR" dirty="0"/>
              <a:t>")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98C9DB-AD3D-0807-23A8-7FF6BBE56656}"/>
              </a:ext>
            </a:extLst>
          </p:cNvPr>
          <p:cNvSpPr/>
          <p:nvPr/>
        </p:nvSpPr>
        <p:spPr>
          <a:xfrm>
            <a:off x="962526" y="3568223"/>
            <a:ext cx="3566278" cy="17703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9C3D6E-4DD4-CA2B-53FF-54B3DF0C1896}"/>
              </a:ext>
            </a:extLst>
          </p:cNvPr>
          <p:cNvSpPr/>
          <p:nvPr/>
        </p:nvSpPr>
        <p:spPr>
          <a:xfrm>
            <a:off x="962526" y="3919717"/>
            <a:ext cx="3566278" cy="17703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459B37D-9489-BD7A-286C-B956ED5BD419}"/>
              </a:ext>
            </a:extLst>
          </p:cNvPr>
          <p:cNvSpPr txBox="1"/>
          <p:nvPr/>
        </p:nvSpPr>
        <p:spPr>
          <a:xfrm>
            <a:off x="336885" y="4744908"/>
            <a:ext cx="5967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Get</a:t>
            </a:r>
            <a:r>
              <a:rPr lang="fr-FR" dirty="0"/>
              <a:t> all the files </a:t>
            </a:r>
            <a:r>
              <a:rPr lang="fr-FR" dirty="0" err="1"/>
              <a:t>corresponding</a:t>
            </a:r>
            <a:r>
              <a:rPr lang="fr-FR" dirty="0"/>
              <a:t> to </a:t>
            </a:r>
            <a:r>
              <a:rPr lang="fr-FR" u="sng" dirty="0">
                <a:uFill>
                  <a:solidFill>
                    <a:srgbClr val="00B0F0"/>
                  </a:solidFill>
                </a:uFill>
              </a:rPr>
              <a:t>transcriptomics</a:t>
            </a:r>
            <a:r>
              <a:rPr lang="fr-FR" dirty="0"/>
              <a:t> data :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0C927ED-AB58-3907-11DC-9C472D69E513}"/>
              </a:ext>
            </a:extLst>
          </p:cNvPr>
          <p:cNvSpPr txBox="1"/>
          <p:nvPr/>
        </p:nvSpPr>
        <p:spPr>
          <a:xfrm>
            <a:off x="347027" y="1469686"/>
            <a:ext cx="3561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Get</a:t>
            </a:r>
            <a:r>
              <a:rPr lang="fr-FR" dirty="0"/>
              <a:t> the BRCA </a:t>
            </a:r>
            <a:r>
              <a:rPr lang="fr-FR" dirty="0" err="1"/>
              <a:t>project</a:t>
            </a:r>
            <a:r>
              <a:rPr lang="fr-FR" dirty="0"/>
              <a:t> </a:t>
            </a:r>
            <a:r>
              <a:rPr lang="fr-FR" dirty="0" err="1"/>
              <a:t>summary</a:t>
            </a:r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5E166AB-AE25-6CF9-36FB-4065B584A946}"/>
              </a:ext>
            </a:extLst>
          </p:cNvPr>
          <p:cNvSpPr txBox="1"/>
          <p:nvPr/>
        </p:nvSpPr>
        <p:spPr>
          <a:xfrm>
            <a:off x="6572681" y="3073209"/>
            <a:ext cx="3403217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dirty="0" err="1"/>
              <a:t>We</a:t>
            </a:r>
            <a:r>
              <a:rPr lang="fr-FR" sz="1600" dirty="0"/>
              <a:t> </a:t>
            </a:r>
            <a:r>
              <a:rPr lang="fr-FR" sz="1600" dirty="0" err="1"/>
              <a:t>get</a:t>
            </a:r>
            <a:r>
              <a:rPr lang="fr-FR" sz="1600" dirty="0"/>
              <a:t> a table </a:t>
            </a:r>
            <a:r>
              <a:rPr lang="fr-FR" sz="1600" dirty="0" err="1"/>
              <a:t>taht</a:t>
            </a:r>
            <a:r>
              <a:rPr lang="fr-FR" sz="1600" dirty="0"/>
              <a:t> </a:t>
            </a:r>
            <a:r>
              <a:rPr lang="fr-FR" sz="1600" dirty="0" err="1"/>
              <a:t>resume</a:t>
            </a:r>
            <a:r>
              <a:rPr lang="fr-FR" sz="1600" dirty="0"/>
              <a:t> </a:t>
            </a:r>
            <a:r>
              <a:rPr lang="fr-FR" sz="1600" dirty="0" err="1"/>
              <a:t>number</a:t>
            </a:r>
            <a:r>
              <a:rPr lang="fr-FR" sz="1600" dirty="0"/>
              <a:t> of files and cases by data </a:t>
            </a:r>
            <a:r>
              <a:rPr lang="fr-FR" sz="1600" dirty="0" err="1"/>
              <a:t>category</a:t>
            </a:r>
            <a:r>
              <a:rPr lang="fr-F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0425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A4C95-5676-EEB4-5C0C-6009C8DF7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E54B8AEB-F877-5A22-D49A-33F391CE2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 err="1"/>
              <a:t>Query</a:t>
            </a:r>
            <a:r>
              <a:rPr lang="fr-FR" dirty="0"/>
              <a:t> the TCGA </a:t>
            </a:r>
            <a:r>
              <a:rPr lang="fr-FR" dirty="0" err="1"/>
              <a:t>database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R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59B0C8A-C2C1-2AB7-B7FB-43F8F8736E2D}"/>
              </a:ext>
            </a:extLst>
          </p:cNvPr>
          <p:cNvSpPr txBox="1"/>
          <p:nvPr/>
        </p:nvSpPr>
        <p:spPr>
          <a:xfrm>
            <a:off x="254380" y="2106323"/>
            <a:ext cx="5919539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err="1"/>
              <a:t>brca_res</a:t>
            </a:r>
            <a:r>
              <a:rPr lang="fr-FR" dirty="0"/>
              <a:t> = </a:t>
            </a:r>
            <a:r>
              <a:rPr lang="fr-FR" dirty="0" err="1"/>
              <a:t>getResults</a:t>
            </a:r>
            <a:r>
              <a:rPr lang="fr-FR" dirty="0"/>
              <a:t>(</a:t>
            </a:r>
            <a:r>
              <a:rPr lang="fr-FR" dirty="0" err="1"/>
              <a:t>query_TCGA</a:t>
            </a:r>
            <a:r>
              <a:rPr lang="fr-FR" dirty="0"/>
              <a:t>) </a:t>
            </a:r>
          </a:p>
          <a:p>
            <a:r>
              <a:rPr lang="fr-FR" dirty="0" err="1"/>
              <a:t>head</a:t>
            </a:r>
            <a:r>
              <a:rPr lang="fr-FR" dirty="0"/>
              <a:t>(</a:t>
            </a:r>
            <a:r>
              <a:rPr lang="fr-FR" dirty="0" err="1"/>
              <a:t>brca_res</a:t>
            </a:r>
            <a:r>
              <a:rPr lang="fr-FR" dirty="0"/>
              <a:t>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B46C484-668E-FC0A-1961-030ADD5B50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6739"/>
          <a:stretch/>
        </p:blipFill>
        <p:spPr>
          <a:xfrm>
            <a:off x="254380" y="2889933"/>
            <a:ext cx="6471372" cy="108390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E562BEDA-AC15-E14A-1842-CE28FE78E0F6}"/>
              </a:ext>
            </a:extLst>
          </p:cNvPr>
          <p:cNvSpPr txBox="1"/>
          <p:nvPr/>
        </p:nvSpPr>
        <p:spPr>
          <a:xfrm>
            <a:off x="254380" y="4538230"/>
            <a:ext cx="5919539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err="1"/>
              <a:t>colnames</a:t>
            </a:r>
            <a:r>
              <a:rPr lang="fr-FR" dirty="0"/>
              <a:t>(</a:t>
            </a:r>
            <a:r>
              <a:rPr lang="fr-FR" dirty="0" err="1"/>
              <a:t>brca_res</a:t>
            </a:r>
            <a:r>
              <a:rPr lang="fr-FR" dirty="0"/>
              <a:t>)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113A9C9-16F9-9D9A-F9F6-1F8AD526CCBD}"/>
              </a:ext>
            </a:extLst>
          </p:cNvPr>
          <p:cNvSpPr txBox="1"/>
          <p:nvPr/>
        </p:nvSpPr>
        <p:spPr>
          <a:xfrm>
            <a:off x="347027" y="1469686"/>
            <a:ext cx="2336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View</a:t>
            </a:r>
            <a:r>
              <a:rPr lang="fr-FR" dirty="0"/>
              <a:t> </a:t>
            </a:r>
            <a:r>
              <a:rPr lang="fr-FR" dirty="0" err="1"/>
              <a:t>query</a:t>
            </a:r>
            <a:r>
              <a:rPr lang="fr-FR" dirty="0"/>
              <a:t> </a:t>
            </a:r>
            <a:r>
              <a:rPr lang="fr-FR" dirty="0" err="1"/>
              <a:t>results</a:t>
            </a:r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C8CFB98-D0DD-7E7A-202A-03DD1EFBCA67}"/>
              </a:ext>
            </a:extLst>
          </p:cNvPr>
          <p:cNvSpPr txBox="1"/>
          <p:nvPr/>
        </p:nvSpPr>
        <p:spPr>
          <a:xfrm>
            <a:off x="7487080" y="3204625"/>
            <a:ext cx="3866719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dirty="0" err="1"/>
              <a:t>We</a:t>
            </a:r>
            <a:r>
              <a:rPr lang="fr-FR" sz="1600" dirty="0"/>
              <a:t> </a:t>
            </a:r>
            <a:r>
              <a:rPr lang="fr-FR" sz="1600" dirty="0" err="1"/>
              <a:t>get</a:t>
            </a:r>
            <a:r>
              <a:rPr lang="fr-FR" sz="1600" dirty="0"/>
              <a:t> a table </a:t>
            </a:r>
            <a:r>
              <a:rPr lang="fr-FR" sz="1600" dirty="0" err="1"/>
              <a:t>containing</a:t>
            </a:r>
            <a:r>
              <a:rPr lang="fr-FR" sz="1600" dirty="0"/>
              <a:t> all the files to </a:t>
            </a:r>
            <a:r>
              <a:rPr lang="fr-FR" sz="1600" dirty="0" err="1"/>
              <a:t>be</a:t>
            </a:r>
            <a:r>
              <a:rPr lang="fr-FR" sz="1600" dirty="0"/>
              <a:t> </a:t>
            </a:r>
            <a:r>
              <a:rPr lang="fr-FR" sz="1600" dirty="0" err="1"/>
              <a:t>downloaded</a:t>
            </a:r>
            <a:r>
              <a:rPr lang="fr-FR" sz="1600" dirty="0"/>
              <a:t> </a:t>
            </a:r>
            <a:r>
              <a:rPr lang="fr-FR" sz="1600" dirty="0" err="1"/>
              <a:t>corresponding</a:t>
            </a:r>
            <a:r>
              <a:rPr lang="fr-FR" sz="1600" dirty="0"/>
              <a:t> to the </a:t>
            </a:r>
            <a:r>
              <a:rPr lang="fr-FR" sz="1600" dirty="0" err="1"/>
              <a:t>query</a:t>
            </a:r>
            <a:r>
              <a:rPr lang="fr-FR" sz="1600" dirty="0"/>
              <a:t>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3DDC3A4-9780-ADDF-47E1-0948E26AC75C}"/>
              </a:ext>
            </a:extLst>
          </p:cNvPr>
          <p:cNvSpPr txBox="1"/>
          <p:nvPr/>
        </p:nvSpPr>
        <p:spPr>
          <a:xfrm>
            <a:off x="9912556" y="5718451"/>
            <a:ext cx="1698873" cy="3485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dirty="0"/>
              <a:t>File information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FF0C1AC-A0E2-9663-210A-78F24E130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380" y="5244177"/>
            <a:ext cx="9300604" cy="1083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256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4E01F-8C97-FE06-BA55-34DC4DFE3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D09092A8-C305-3292-36BF-97CFA8410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 err="1"/>
              <a:t>Query</a:t>
            </a:r>
            <a:r>
              <a:rPr lang="fr-FR" dirty="0"/>
              <a:t> the TCGA </a:t>
            </a:r>
            <a:r>
              <a:rPr lang="fr-FR" dirty="0" err="1"/>
              <a:t>database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R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CD2AF04-236E-ED38-D7A7-57E58084A530}"/>
              </a:ext>
            </a:extLst>
          </p:cNvPr>
          <p:cNvSpPr txBox="1"/>
          <p:nvPr/>
        </p:nvSpPr>
        <p:spPr>
          <a:xfrm>
            <a:off x="176461" y="4062712"/>
            <a:ext cx="5919539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err="1"/>
              <a:t>summary</a:t>
            </a:r>
            <a:r>
              <a:rPr lang="fr-FR" dirty="0"/>
              <a:t>(factor(</a:t>
            </a:r>
            <a:r>
              <a:rPr lang="fr-FR" dirty="0" err="1"/>
              <a:t>brca_res$data_type</a:t>
            </a:r>
            <a:r>
              <a:rPr lang="fr-FR" dirty="0"/>
              <a:t>))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D932942-D4C7-A383-CC45-B51077487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797" y="4432044"/>
            <a:ext cx="4843089" cy="555592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AABEED43-FCE5-B9D0-B21E-E8F0DA011618}"/>
              </a:ext>
            </a:extLst>
          </p:cNvPr>
          <p:cNvSpPr txBox="1"/>
          <p:nvPr/>
        </p:nvSpPr>
        <p:spPr>
          <a:xfrm>
            <a:off x="284606" y="2338551"/>
            <a:ext cx="5919539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err="1"/>
              <a:t>summary</a:t>
            </a:r>
            <a:r>
              <a:rPr lang="fr-FR" dirty="0"/>
              <a:t>(factor(</a:t>
            </a:r>
            <a:r>
              <a:rPr lang="fr-FR" dirty="0" err="1"/>
              <a:t>brca_res$sample_type</a:t>
            </a:r>
            <a:r>
              <a:rPr lang="fr-FR" dirty="0"/>
              <a:t>))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7A4F50B-B8BE-4A0E-7379-561E5132776B}"/>
              </a:ext>
            </a:extLst>
          </p:cNvPr>
          <p:cNvSpPr txBox="1"/>
          <p:nvPr/>
        </p:nvSpPr>
        <p:spPr>
          <a:xfrm>
            <a:off x="347025" y="1748217"/>
            <a:ext cx="2556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Play </a:t>
            </a:r>
            <a:r>
              <a:rPr lang="fr-FR" dirty="0" err="1"/>
              <a:t>with</a:t>
            </a:r>
            <a:r>
              <a:rPr lang="fr-FR" dirty="0"/>
              <a:t> information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D7806-C16A-CB9E-0C49-7A09EFF11BFA}"/>
              </a:ext>
            </a:extLst>
          </p:cNvPr>
          <p:cNvSpPr/>
          <p:nvPr/>
        </p:nvSpPr>
        <p:spPr>
          <a:xfrm>
            <a:off x="848797" y="4525579"/>
            <a:ext cx="2340267" cy="39404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 descr="Une image contenant texte, Police, blanc, capture d’écran&#10;&#10;Description générée automatiquement">
            <a:extLst>
              <a:ext uri="{FF2B5EF4-FFF2-40B4-BE49-F238E27FC236}">
                <a16:creationId xmlns:a16="http://schemas.microsoft.com/office/drawing/2014/main" id="{2F5C5742-BAB1-D994-6B09-373846EFE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731" y="2795288"/>
            <a:ext cx="4108362" cy="56023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10893B4-F300-35CC-A29B-5338742BBACE}"/>
              </a:ext>
            </a:extLst>
          </p:cNvPr>
          <p:cNvSpPr/>
          <p:nvPr/>
        </p:nvSpPr>
        <p:spPr>
          <a:xfrm>
            <a:off x="2127193" y="2907619"/>
            <a:ext cx="2663961" cy="4479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9871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14270-C902-C04F-D72B-785BF4CB7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384CB627-1181-A787-CF3C-D007D0249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 err="1"/>
              <a:t>Query</a:t>
            </a:r>
            <a:r>
              <a:rPr lang="fr-FR" dirty="0"/>
              <a:t> the TCGA </a:t>
            </a:r>
            <a:r>
              <a:rPr lang="fr-FR" dirty="0" err="1"/>
              <a:t>database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R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1D45175-B849-3E45-DEB9-1EC77EDAF6E0}"/>
              </a:ext>
            </a:extLst>
          </p:cNvPr>
          <p:cNvSpPr txBox="1"/>
          <p:nvPr/>
        </p:nvSpPr>
        <p:spPr>
          <a:xfrm>
            <a:off x="266644" y="1544647"/>
            <a:ext cx="11658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Specify</a:t>
            </a:r>
            <a:r>
              <a:rPr lang="fr-FR" dirty="0"/>
              <a:t> the </a:t>
            </a:r>
            <a:r>
              <a:rPr lang="fr-FR" dirty="0" err="1"/>
              <a:t>query</a:t>
            </a:r>
            <a:r>
              <a:rPr lang="fr-FR" dirty="0"/>
              <a:t> to </a:t>
            </a:r>
            <a:r>
              <a:rPr lang="fr-FR" dirty="0" err="1"/>
              <a:t>get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the files </a:t>
            </a:r>
            <a:r>
              <a:rPr lang="fr-FR" dirty="0" err="1"/>
              <a:t>concerning</a:t>
            </a:r>
            <a:r>
              <a:rPr lang="fr-FR" dirty="0"/>
              <a:t> </a:t>
            </a:r>
            <a:r>
              <a:rPr lang="fr-FR" dirty="0" err="1"/>
              <a:t>primary</a:t>
            </a:r>
            <a:r>
              <a:rPr lang="fr-FR" dirty="0"/>
              <a:t> </a:t>
            </a:r>
            <a:r>
              <a:rPr lang="fr-FR" dirty="0" err="1"/>
              <a:t>tumors</a:t>
            </a:r>
            <a:r>
              <a:rPr lang="fr-FR" dirty="0"/>
              <a:t> and normal tissues and </a:t>
            </a:r>
            <a:r>
              <a:rPr lang="fr-FR" dirty="0" err="1"/>
              <a:t>corresponding</a:t>
            </a:r>
            <a:r>
              <a:rPr lang="fr-FR" dirty="0"/>
              <a:t> to </a:t>
            </a:r>
            <a:r>
              <a:rPr lang="fr-FR" dirty="0" err="1"/>
              <a:t>gene</a:t>
            </a:r>
            <a:r>
              <a:rPr lang="fr-FR" dirty="0"/>
              <a:t> expression quantification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64D5866-EC71-06D0-488A-C3C69F6BA365}"/>
              </a:ext>
            </a:extLst>
          </p:cNvPr>
          <p:cNvSpPr txBox="1"/>
          <p:nvPr/>
        </p:nvSpPr>
        <p:spPr>
          <a:xfrm>
            <a:off x="266644" y="2274838"/>
            <a:ext cx="5919539" cy="20313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err="1"/>
              <a:t>query_TCGA</a:t>
            </a:r>
            <a:r>
              <a:rPr lang="fr-FR" dirty="0"/>
              <a:t> = </a:t>
            </a:r>
            <a:r>
              <a:rPr lang="fr-FR" dirty="0" err="1"/>
              <a:t>GDCquery</a:t>
            </a:r>
            <a:r>
              <a:rPr lang="fr-FR" dirty="0"/>
              <a:t>(</a:t>
            </a:r>
          </a:p>
          <a:p>
            <a:r>
              <a:rPr lang="fr-FR" dirty="0"/>
              <a:t>  </a:t>
            </a:r>
            <a:r>
              <a:rPr lang="fr-FR" dirty="0" err="1"/>
              <a:t>project</a:t>
            </a:r>
            <a:r>
              <a:rPr lang="fr-FR" dirty="0"/>
              <a:t> = "TCGA-BRCA",</a:t>
            </a:r>
          </a:p>
          <a:p>
            <a:r>
              <a:rPr lang="fr-FR" dirty="0"/>
              <a:t>  </a:t>
            </a:r>
            <a:r>
              <a:rPr lang="fr-FR" dirty="0" err="1"/>
              <a:t>data.category</a:t>
            </a:r>
            <a:r>
              <a:rPr lang="fr-FR" dirty="0"/>
              <a:t> = "Transcriptome Profiling", </a:t>
            </a:r>
          </a:p>
          <a:p>
            <a:r>
              <a:rPr lang="fr-FR" dirty="0"/>
              <a:t>  </a:t>
            </a:r>
            <a:r>
              <a:rPr lang="fr-FR" dirty="0" err="1"/>
              <a:t>experimental.strategy</a:t>
            </a:r>
            <a:r>
              <a:rPr lang="fr-FR" dirty="0"/>
              <a:t> = "RNA-Seq",</a:t>
            </a:r>
          </a:p>
          <a:p>
            <a:r>
              <a:rPr lang="fr-FR" dirty="0"/>
              <a:t>  </a:t>
            </a:r>
            <a:r>
              <a:rPr lang="fr-FR" dirty="0" err="1"/>
              <a:t>workflow.type</a:t>
            </a:r>
            <a:r>
              <a:rPr lang="fr-FR" dirty="0"/>
              <a:t> = "STAR - </a:t>
            </a:r>
            <a:r>
              <a:rPr lang="fr-FR" dirty="0" err="1"/>
              <a:t>Counts</a:t>
            </a:r>
            <a:r>
              <a:rPr lang="fr-FR" dirty="0"/>
              <a:t>",</a:t>
            </a:r>
          </a:p>
          <a:p>
            <a:r>
              <a:rPr lang="fr-FR" dirty="0"/>
              <a:t>  </a:t>
            </a:r>
            <a:r>
              <a:rPr lang="fr-FR" dirty="0" err="1"/>
              <a:t>sample.type</a:t>
            </a:r>
            <a:r>
              <a:rPr lang="fr-FR" dirty="0"/>
              <a:t> = c("</a:t>
            </a:r>
            <a:r>
              <a:rPr lang="fr-FR" dirty="0" err="1"/>
              <a:t>Primary</a:t>
            </a:r>
            <a:r>
              <a:rPr lang="fr-FR" dirty="0"/>
              <a:t> </a:t>
            </a:r>
            <a:r>
              <a:rPr lang="fr-FR" dirty="0" err="1"/>
              <a:t>Tumor</a:t>
            </a:r>
            <a:r>
              <a:rPr lang="fr-FR" dirty="0"/>
              <a:t>", "Solid Tissue Normal"),</a:t>
            </a:r>
          </a:p>
          <a:p>
            <a:r>
              <a:rPr lang="fr-FR" dirty="0"/>
              <a:t>  </a:t>
            </a:r>
            <a:r>
              <a:rPr lang="fr-FR" dirty="0" err="1"/>
              <a:t>data.type</a:t>
            </a:r>
            <a:r>
              <a:rPr lang="fr-FR" dirty="0"/>
              <a:t> = "Gene Expression Quantification")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D4FE5DD-4472-3FB8-6E87-0EF2DF6F6E7F}"/>
              </a:ext>
            </a:extLst>
          </p:cNvPr>
          <p:cNvSpPr txBox="1"/>
          <p:nvPr/>
        </p:nvSpPr>
        <p:spPr>
          <a:xfrm>
            <a:off x="266643" y="4583830"/>
            <a:ext cx="11658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Download the files (</a:t>
            </a:r>
            <a:r>
              <a:rPr lang="fr-FR" i="1" dirty="0"/>
              <a:t>do not run </a:t>
            </a:r>
            <a:r>
              <a:rPr lang="fr-FR" i="1" dirty="0" err="1"/>
              <a:t>this</a:t>
            </a:r>
            <a:r>
              <a:rPr lang="fr-FR" i="1" dirty="0"/>
              <a:t> command</a:t>
            </a:r>
            <a:r>
              <a:rPr lang="fr-FR" dirty="0"/>
              <a:t>)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D23C5DF-F23D-75DB-9D31-749C8A7439D9}"/>
              </a:ext>
            </a:extLst>
          </p:cNvPr>
          <p:cNvSpPr txBox="1"/>
          <p:nvPr/>
        </p:nvSpPr>
        <p:spPr>
          <a:xfrm>
            <a:off x="266643" y="4983390"/>
            <a:ext cx="5919539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err="1"/>
              <a:t>GDCdownload</a:t>
            </a:r>
            <a:r>
              <a:rPr lang="fr-FR" dirty="0"/>
              <a:t>(</a:t>
            </a:r>
            <a:r>
              <a:rPr lang="fr-FR" dirty="0" err="1"/>
              <a:t>query</a:t>
            </a:r>
            <a:r>
              <a:rPr lang="fr-FR" dirty="0"/>
              <a:t> = </a:t>
            </a:r>
            <a:r>
              <a:rPr lang="fr-FR" dirty="0" err="1"/>
              <a:t>query_TCGA</a:t>
            </a:r>
            <a:r>
              <a:rPr lang="fr-FR" dirty="0"/>
              <a:t>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43C5AE-2FC1-6B34-051A-708DDFE4893B}"/>
              </a:ext>
            </a:extLst>
          </p:cNvPr>
          <p:cNvSpPr/>
          <p:nvPr/>
        </p:nvSpPr>
        <p:spPr>
          <a:xfrm>
            <a:off x="410490" y="3718056"/>
            <a:ext cx="5604902" cy="52899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6935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F1375-A3C9-F100-4B4B-140F2089B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F7F4F7BD-9B86-E941-A143-966872241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 err="1"/>
              <a:t>Query</a:t>
            </a:r>
            <a:r>
              <a:rPr lang="fr-FR" dirty="0"/>
              <a:t> the TCGA </a:t>
            </a:r>
            <a:r>
              <a:rPr lang="fr-FR" dirty="0" err="1"/>
              <a:t>database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R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D50B988-D7B5-6C53-E6E3-7B14DB120024}"/>
              </a:ext>
            </a:extLst>
          </p:cNvPr>
          <p:cNvSpPr txBox="1"/>
          <p:nvPr/>
        </p:nvSpPr>
        <p:spPr>
          <a:xfrm>
            <a:off x="266644" y="1544647"/>
            <a:ext cx="11658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Once the download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complete</a:t>
            </a:r>
            <a:r>
              <a:rPr lang="fr-FR" dirty="0"/>
              <a:t>, </a:t>
            </a:r>
            <a:r>
              <a:rPr lang="fr-FR" dirty="0" err="1"/>
              <a:t>prepare</a:t>
            </a:r>
            <a:r>
              <a:rPr lang="fr-FR" dirty="0"/>
              <a:t> the data </a:t>
            </a:r>
            <a:r>
              <a:rPr lang="fr-FR" dirty="0" err="1"/>
              <a:t>so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have a matrix </a:t>
            </a:r>
            <a:r>
              <a:rPr lang="fr-FR" dirty="0" err="1"/>
              <a:t>containing</a:t>
            </a:r>
            <a:r>
              <a:rPr lang="fr-FR" dirty="0"/>
              <a:t> all the </a:t>
            </a:r>
            <a:r>
              <a:rPr lang="fr-FR" dirty="0" err="1"/>
              <a:t>gene</a:t>
            </a:r>
            <a:r>
              <a:rPr lang="fr-FR" dirty="0"/>
              <a:t> expressions </a:t>
            </a:r>
            <a:r>
              <a:rPr lang="fr-FR" dirty="0" err="1"/>
              <a:t>from</a:t>
            </a:r>
            <a:r>
              <a:rPr lang="fr-FR" dirty="0"/>
              <a:t> all the </a:t>
            </a:r>
            <a:r>
              <a:rPr lang="fr-FR" dirty="0" err="1"/>
              <a:t>samples</a:t>
            </a:r>
            <a:r>
              <a:rPr lang="fr-FR" dirty="0"/>
              <a:t>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F92546E-5838-9135-74D5-21429355F892}"/>
              </a:ext>
            </a:extLst>
          </p:cNvPr>
          <p:cNvSpPr txBox="1"/>
          <p:nvPr/>
        </p:nvSpPr>
        <p:spPr>
          <a:xfrm>
            <a:off x="410227" y="2205162"/>
            <a:ext cx="5919539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err="1"/>
              <a:t>tcga_data</a:t>
            </a:r>
            <a:r>
              <a:rPr lang="fr-FR" dirty="0"/>
              <a:t> = </a:t>
            </a:r>
            <a:r>
              <a:rPr lang="fr-FR" dirty="0" err="1"/>
              <a:t>GDCprepare</a:t>
            </a:r>
            <a:r>
              <a:rPr lang="fr-FR" dirty="0"/>
              <a:t>(</a:t>
            </a:r>
            <a:r>
              <a:rPr lang="fr-FR" dirty="0" err="1"/>
              <a:t>query_TCGA</a:t>
            </a:r>
            <a:r>
              <a:rPr lang="fr-FR" dirty="0"/>
              <a:t>)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BAB8F174-6942-13DE-6D76-BC628070C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03" y="2749565"/>
            <a:ext cx="6291276" cy="3943296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0853EB3C-06C2-2660-3DAB-157ED8A8CF72}"/>
              </a:ext>
            </a:extLst>
          </p:cNvPr>
          <p:cNvSpPr txBox="1"/>
          <p:nvPr/>
        </p:nvSpPr>
        <p:spPr>
          <a:xfrm>
            <a:off x="4137101" y="3798031"/>
            <a:ext cx="235514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err="1"/>
              <a:t>colData</a:t>
            </a:r>
            <a:r>
              <a:rPr lang="fr-FR" dirty="0"/>
              <a:t>(</a:t>
            </a:r>
            <a:r>
              <a:rPr lang="fr-FR" dirty="0" err="1"/>
              <a:t>tcga_data</a:t>
            </a:r>
            <a:r>
              <a:rPr lang="fr-FR" dirty="0"/>
              <a:t>)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BCBC91E-242A-666B-DF4C-771C5BC1F55F}"/>
              </a:ext>
            </a:extLst>
          </p:cNvPr>
          <p:cNvSpPr txBox="1"/>
          <p:nvPr/>
        </p:nvSpPr>
        <p:spPr>
          <a:xfrm>
            <a:off x="517603" y="5675391"/>
            <a:ext cx="2159095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err="1"/>
              <a:t>rowData</a:t>
            </a:r>
            <a:r>
              <a:rPr lang="fr-FR" dirty="0"/>
              <a:t>(</a:t>
            </a:r>
            <a:r>
              <a:rPr lang="fr-FR" dirty="0" err="1"/>
              <a:t>tcga_data</a:t>
            </a:r>
            <a:r>
              <a:rPr lang="fr-FR" dirty="0"/>
              <a:t>)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8362E21A-8021-EE10-8E51-C34643C07908}"/>
              </a:ext>
            </a:extLst>
          </p:cNvPr>
          <p:cNvSpPr txBox="1"/>
          <p:nvPr/>
        </p:nvSpPr>
        <p:spPr>
          <a:xfrm>
            <a:off x="2802531" y="5851744"/>
            <a:ext cx="2355140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err="1"/>
              <a:t>assay</a:t>
            </a:r>
            <a:r>
              <a:rPr lang="fr-FR" dirty="0"/>
              <a:t>(</a:t>
            </a:r>
            <a:r>
              <a:rPr lang="fr-FR" dirty="0" err="1"/>
              <a:t>tcga_data</a:t>
            </a:r>
            <a:r>
              <a:rPr lang="fr-FR" dirty="0"/>
              <a:t>)</a:t>
            </a:r>
          </a:p>
          <a:p>
            <a:endParaRPr lang="fr-FR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EBE5877-76D8-B660-2AB0-24B299C4141C}"/>
              </a:ext>
            </a:extLst>
          </p:cNvPr>
          <p:cNvSpPr txBox="1"/>
          <p:nvPr/>
        </p:nvSpPr>
        <p:spPr>
          <a:xfrm>
            <a:off x="7792353" y="4941832"/>
            <a:ext cx="38820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You can </a:t>
            </a:r>
            <a:r>
              <a:rPr lang="fr-FR" dirty="0" err="1"/>
              <a:t>save</a:t>
            </a:r>
            <a:r>
              <a:rPr lang="fr-FR" dirty="0"/>
              <a:t> </a:t>
            </a:r>
            <a:r>
              <a:rPr lang="fr-FR" dirty="0" err="1"/>
              <a:t>tcga_data</a:t>
            </a:r>
            <a:r>
              <a:rPr lang="fr-FR" dirty="0"/>
              <a:t> in a RDS file </a:t>
            </a:r>
            <a:r>
              <a:rPr lang="fr-FR" dirty="0" err="1"/>
              <a:t>instead</a:t>
            </a:r>
            <a:r>
              <a:rPr lang="fr-FR" dirty="0"/>
              <a:t> of </a:t>
            </a:r>
            <a:r>
              <a:rPr lang="fr-FR" dirty="0" err="1"/>
              <a:t>repeating</a:t>
            </a:r>
            <a:r>
              <a:rPr lang="fr-FR" dirty="0"/>
              <a:t> </a:t>
            </a:r>
            <a:r>
              <a:rPr lang="fr-FR" dirty="0" err="1"/>
              <a:t>previous</a:t>
            </a:r>
            <a:r>
              <a:rPr lang="fr-FR" dirty="0"/>
              <a:t> </a:t>
            </a:r>
            <a:r>
              <a:rPr lang="fr-FR" dirty="0" err="1"/>
              <a:t>steps</a:t>
            </a:r>
            <a:r>
              <a:rPr lang="fr-FR" dirty="0"/>
              <a:t>.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F8F4771-68EA-4310-F8F2-A19CEE7F0126}"/>
              </a:ext>
            </a:extLst>
          </p:cNvPr>
          <p:cNvSpPr txBox="1"/>
          <p:nvPr/>
        </p:nvSpPr>
        <p:spPr>
          <a:xfrm>
            <a:off x="7922719" y="5769531"/>
            <a:ext cx="3493983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err="1"/>
              <a:t>saveRDS</a:t>
            </a:r>
            <a:r>
              <a:rPr lang="fr-FR" dirty="0"/>
              <a:t>(</a:t>
            </a:r>
            <a:r>
              <a:rPr lang="fr-FR" dirty="0" err="1"/>
              <a:t>object</a:t>
            </a:r>
            <a:r>
              <a:rPr lang="fr-FR" dirty="0"/>
              <a:t> = </a:t>
            </a:r>
            <a:r>
              <a:rPr lang="fr-FR" dirty="0" err="1"/>
              <a:t>tcga_data</a:t>
            </a:r>
            <a:r>
              <a:rPr lang="fr-FR" dirty="0"/>
              <a:t>,</a:t>
            </a:r>
          </a:p>
          <a:p>
            <a:r>
              <a:rPr lang="fr-FR" dirty="0"/>
              <a:t>        file = "</a:t>
            </a:r>
            <a:r>
              <a:rPr lang="fr-FR" dirty="0" err="1"/>
              <a:t>tcga_data.RDS</a:t>
            </a:r>
            <a:r>
              <a:rPr lang="fr-FR" dirty="0"/>
              <a:t>",</a:t>
            </a:r>
          </a:p>
          <a:p>
            <a:r>
              <a:rPr lang="fr-FR" dirty="0"/>
              <a:t>        </a:t>
            </a:r>
            <a:r>
              <a:rPr lang="fr-FR" dirty="0" err="1"/>
              <a:t>compress</a:t>
            </a:r>
            <a:r>
              <a:rPr lang="fr-FR" dirty="0"/>
              <a:t> = FALSE)</a:t>
            </a:r>
          </a:p>
        </p:txBody>
      </p:sp>
      <p:pic>
        <p:nvPicPr>
          <p:cNvPr id="6" name="Image 5" descr="Une image contenant texte, Police, capture d’écran&#10;&#10;Description générée automatiquement">
            <a:extLst>
              <a:ext uri="{FF2B5EF4-FFF2-40B4-BE49-F238E27FC236}">
                <a16:creationId xmlns:a16="http://schemas.microsoft.com/office/drawing/2014/main" id="{1E6BE683-27FC-7347-246D-DAB012EDF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353" y="2591854"/>
            <a:ext cx="4117958" cy="1601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685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BD367-816D-1283-495A-07E0EF7EC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975C718-63D4-EDFE-7207-109963320E12}"/>
              </a:ext>
            </a:extLst>
          </p:cNvPr>
          <p:cNvSpPr/>
          <p:nvPr/>
        </p:nvSpPr>
        <p:spPr>
          <a:xfrm rot="21306666">
            <a:off x="7568390" y="6420361"/>
            <a:ext cx="1830962" cy="357372"/>
          </a:xfrm>
          <a:custGeom>
            <a:avLst/>
            <a:gdLst>
              <a:gd name="connsiteX0" fmla="*/ 0 w 1830962"/>
              <a:gd name="connsiteY0" fmla="*/ 0 h 357372"/>
              <a:gd name="connsiteX1" fmla="*/ 1830962 w 1830962"/>
              <a:gd name="connsiteY1" fmla="*/ 0 h 357372"/>
              <a:gd name="connsiteX2" fmla="*/ 1830962 w 1830962"/>
              <a:gd name="connsiteY2" fmla="*/ 357372 h 357372"/>
              <a:gd name="connsiteX3" fmla="*/ 0 w 1830962"/>
              <a:gd name="connsiteY3" fmla="*/ 357372 h 357372"/>
              <a:gd name="connsiteX4" fmla="*/ 0 w 1830962"/>
              <a:gd name="connsiteY4" fmla="*/ 0 h 357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30962" h="357372" fill="none" extrusionOk="0">
                <a:moveTo>
                  <a:pt x="0" y="0"/>
                </a:moveTo>
                <a:cubicBezTo>
                  <a:pt x="628265" y="-34223"/>
                  <a:pt x="1371753" y="121597"/>
                  <a:pt x="1830962" y="0"/>
                </a:cubicBezTo>
                <a:cubicBezTo>
                  <a:pt x="1818311" y="83420"/>
                  <a:pt x="1805796" y="216227"/>
                  <a:pt x="1830962" y="357372"/>
                </a:cubicBezTo>
                <a:cubicBezTo>
                  <a:pt x="1605343" y="485695"/>
                  <a:pt x="908776" y="303095"/>
                  <a:pt x="0" y="357372"/>
                </a:cubicBezTo>
                <a:cubicBezTo>
                  <a:pt x="15911" y="251320"/>
                  <a:pt x="25286" y="135129"/>
                  <a:pt x="0" y="0"/>
                </a:cubicBezTo>
                <a:close/>
              </a:path>
              <a:path w="1830962" h="357372" stroke="0" extrusionOk="0">
                <a:moveTo>
                  <a:pt x="0" y="0"/>
                </a:moveTo>
                <a:cubicBezTo>
                  <a:pt x="582999" y="149448"/>
                  <a:pt x="1097738" y="-22990"/>
                  <a:pt x="1830962" y="0"/>
                </a:cubicBezTo>
                <a:cubicBezTo>
                  <a:pt x="1813072" y="37775"/>
                  <a:pt x="1832821" y="253257"/>
                  <a:pt x="1830962" y="357372"/>
                </a:cubicBezTo>
                <a:cubicBezTo>
                  <a:pt x="1610079" y="344514"/>
                  <a:pt x="563243" y="461455"/>
                  <a:pt x="0" y="357372"/>
                </a:cubicBezTo>
                <a:cubicBezTo>
                  <a:pt x="-20626" y="283475"/>
                  <a:pt x="26213" y="168541"/>
                  <a:pt x="0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solidFill>
              <a:srgbClr val="FFC4F3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BC422D-9873-98D8-D804-078B552B8984}"/>
              </a:ext>
            </a:extLst>
          </p:cNvPr>
          <p:cNvSpPr/>
          <p:nvPr/>
        </p:nvSpPr>
        <p:spPr>
          <a:xfrm>
            <a:off x="435697" y="6569387"/>
            <a:ext cx="856741" cy="311820"/>
          </a:xfrm>
          <a:custGeom>
            <a:avLst/>
            <a:gdLst>
              <a:gd name="connsiteX0" fmla="*/ 0 w 856741"/>
              <a:gd name="connsiteY0" fmla="*/ 0 h 311820"/>
              <a:gd name="connsiteX1" fmla="*/ 856741 w 856741"/>
              <a:gd name="connsiteY1" fmla="*/ 0 h 311820"/>
              <a:gd name="connsiteX2" fmla="*/ 856741 w 856741"/>
              <a:gd name="connsiteY2" fmla="*/ 311820 h 311820"/>
              <a:gd name="connsiteX3" fmla="*/ 0 w 856741"/>
              <a:gd name="connsiteY3" fmla="*/ 311820 h 311820"/>
              <a:gd name="connsiteX4" fmla="*/ 0 w 856741"/>
              <a:gd name="connsiteY4" fmla="*/ 0 h 311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6741" h="311820" fill="none" extrusionOk="0">
                <a:moveTo>
                  <a:pt x="0" y="0"/>
                </a:moveTo>
                <a:cubicBezTo>
                  <a:pt x="223673" y="-67985"/>
                  <a:pt x="468877" y="45492"/>
                  <a:pt x="856741" y="0"/>
                </a:cubicBezTo>
                <a:cubicBezTo>
                  <a:pt x="839310" y="75143"/>
                  <a:pt x="833203" y="262993"/>
                  <a:pt x="856741" y="311820"/>
                </a:cubicBezTo>
                <a:cubicBezTo>
                  <a:pt x="502996" y="276120"/>
                  <a:pt x="296903" y="283513"/>
                  <a:pt x="0" y="311820"/>
                </a:cubicBezTo>
                <a:cubicBezTo>
                  <a:pt x="-25693" y="173825"/>
                  <a:pt x="9350" y="41594"/>
                  <a:pt x="0" y="0"/>
                </a:cubicBezTo>
                <a:close/>
              </a:path>
              <a:path w="856741" h="311820" stroke="0" extrusionOk="0">
                <a:moveTo>
                  <a:pt x="0" y="0"/>
                </a:moveTo>
                <a:cubicBezTo>
                  <a:pt x="126210" y="-68919"/>
                  <a:pt x="558276" y="-46304"/>
                  <a:pt x="856741" y="0"/>
                </a:cubicBezTo>
                <a:cubicBezTo>
                  <a:pt x="884416" y="73940"/>
                  <a:pt x="882373" y="223855"/>
                  <a:pt x="856741" y="311820"/>
                </a:cubicBezTo>
                <a:cubicBezTo>
                  <a:pt x="637460" y="241323"/>
                  <a:pt x="228394" y="276911"/>
                  <a:pt x="0" y="311820"/>
                </a:cubicBezTo>
                <a:cubicBezTo>
                  <a:pt x="-2495" y="228427"/>
                  <a:pt x="-4481" y="98627"/>
                  <a:pt x="0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solidFill>
              <a:srgbClr val="FFC4F3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FA615B-CB14-EC9C-1D1F-F7ED24974FAA}"/>
              </a:ext>
            </a:extLst>
          </p:cNvPr>
          <p:cNvSpPr/>
          <p:nvPr/>
        </p:nvSpPr>
        <p:spPr>
          <a:xfrm rot="21306666">
            <a:off x="9145129" y="4176619"/>
            <a:ext cx="968896" cy="357372"/>
          </a:xfrm>
          <a:custGeom>
            <a:avLst/>
            <a:gdLst>
              <a:gd name="connsiteX0" fmla="*/ 0 w 968896"/>
              <a:gd name="connsiteY0" fmla="*/ 0 h 357372"/>
              <a:gd name="connsiteX1" fmla="*/ 968896 w 968896"/>
              <a:gd name="connsiteY1" fmla="*/ 0 h 357372"/>
              <a:gd name="connsiteX2" fmla="*/ 968896 w 968896"/>
              <a:gd name="connsiteY2" fmla="*/ 357372 h 357372"/>
              <a:gd name="connsiteX3" fmla="*/ 0 w 968896"/>
              <a:gd name="connsiteY3" fmla="*/ 357372 h 357372"/>
              <a:gd name="connsiteX4" fmla="*/ 0 w 968896"/>
              <a:gd name="connsiteY4" fmla="*/ 0 h 357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8896" h="357372" fill="none" extrusionOk="0">
                <a:moveTo>
                  <a:pt x="0" y="0"/>
                </a:moveTo>
                <a:cubicBezTo>
                  <a:pt x="182705" y="72419"/>
                  <a:pt x="792141" y="-31896"/>
                  <a:pt x="968896" y="0"/>
                </a:cubicBezTo>
                <a:cubicBezTo>
                  <a:pt x="956245" y="83420"/>
                  <a:pt x="943730" y="216227"/>
                  <a:pt x="968896" y="357372"/>
                </a:cubicBezTo>
                <a:cubicBezTo>
                  <a:pt x="718330" y="313814"/>
                  <a:pt x="195428" y="407883"/>
                  <a:pt x="0" y="357372"/>
                </a:cubicBezTo>
                <a:cubicBezTo>
                  <a:pt x="15911" y="251320"/>
                  <a:pt x="25286" y="135129"/>
                  <a:pt x="0" y="0"/>
                </a:cubicBezTo>
                <a:close/>
              </a:path>
              <a:path w="968896" h="357372" stroke="0" extrusionOk="0">
                <a:moveTo>
                  <a:pt x="0" y="0"/>
                </a:moveTo>
                <a:cubicBezTo>
                  <a:pt x="368222" y="-5313"/>
                  <a:pt x="814524" y="-10666"/>
                  <a:pt x="968896" y="0"/>
                </a:cubicBezTo>
                <a:cubicBezTo>
                  <a:pt x="951006" y="37775"/>
                  <a:pt x="970755" y="253257"/>
                  <a:pt x="968896" y="357372"/>
                </a:cubicBezTo>
                <a:cubicBezTo>
                  <a:pt x="701141" y="274806"/>
                  <a:pt x="156812" y="305450"/>
                  <a:pt x="0" y="357372"/>
                </a:cubicBezTo>
                <a:cubicBezTo>
                  <a:pt x="-20626" y="283475"/>
                  <a:pt x="26213" y="168541"/>
                  <a:pt x="0" y="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solidFill>
              <a:srgbClr val="FFC4F3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F27D6379-5680-7F54-3874-36B67B6DE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 err="1"/>
              <a:t>Query</a:t>
            </a:r>
            <a:r>
              <a:rPr lang="fr-FR" dirty="0"/>
              <a:t> the TCGA </a:t>
            </a:r>
            <a:r>
              <a:rPr lang="fr-FR" dirty="0" err="1"/>
              <a:t>database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R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17379F9-7C41-1739-1DF4-283F539DF20E}"/>
              </a:ext>
            </a:extLst>
          </p:cNvPr>
          <p:cNvSpPr txBox="1"/>
          <p:nvPr/>
        </p:nvSpPr>
        <p:spPr>
          <a:xfrm>
            <a:off x="266644" y="1544647"/>
            <a:ext cx="11658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Load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RDS file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1E380AD-B11D-ACF7-175A-FDAD7520C78E}"/>
              </a:ext>
            </a:extLst>
          </p:cNvPr>
          <p:cNvSpPr txBox="1"/>
          <p:nvPr/>
        </p:nvSpPr>
        <p:spPr>
          <a:xfrm>
            <a:off x="410227" y="2089050"/>
            <a:ext cx="5919539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err="1"/>
              <a:t>tcga_data</a:t>
            </a:r>
            <a:r>
              <a:rPr lang="fr-FR" dirty="0"/>
              <a:t> = </a:t>
            </a:r>
            <a:r>
              <a:rPr lang="fr-FR" dirty="0" err="1"/>
              <a:t>readRDS</a:t>
            </a:r>
            <a:r>
              <a:rPr lang="fr-FR" dirty="0"/>
              <a:t>(file = "</a:t>
            </a:r>
            <a:r>
              <a:rPr lang="fr-FR" dirty="0" err="1"/>
              <a:t>tcga_data.RDS</a:t>
            </a:r>
            <a:r>
              <a:rPr lang="fr-FR" dirty="0"/>
              <a:t>")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B3D7A32-B730-48CC-DE1D-6AE22E0A5AC7}"/>
              </a:ext>
            </a:extLst>
          </p:cNvPr>
          <p:cNvSpPr txBox="1"/>
          <p:nvPr/>
        </p:nvSpPr>
        <p:spPr>
          <a:xfrm>
            <a:off x="266644" y="2870210"/>
            <a:ext cx="11658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Several</a:t>
            </a:r>
            <a:r>
              <a:rPr lang="fr-FR" dirty="0"/>
              <a:t> </a:t>
            </a:r>
            <a:r>
              <a:rPr lang="fr-FR" dirty="0" err="1"/>
              <a:t>gene</a:t>
            </a:r>
            <a:r>
              <a:rPr lang="fr-FR" dirty="0"/>
              <a:t> expression matrices are </a:t>
            </a:r>
            <a:r>
              <a:rPr lang="fr-FR" dirty="0" err="1"/>
              <a:t>available</a:t>
            </a:r>
            <a:r>
              <a:rPr lang="fr-FR" dirty="0"/>
              <a:t>, but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want</a:t>
            </a:r>
            <a:r>
              <a:rPr lang="fr-FR" dirty="0"/>
              <a:t> to select </a:t>
            </a:r>
            <a:r>
              <a:rPr lang="fr-FR" dirty="0" err="1"/>
              <a:t>only</a:t>
            </a:r>
            <a:r>
              <a:rPr lang="fr-FR" dirty="0"/>
              <a:t> </a:t>
            </a:r>
            <a:r>
              <a:rPr lang="fr-FR" dirty="0" err="1"/>
              <a:t>tpm</a:t>
            </a:r>
            <a:r>
              <a:rPr lang="fr-FR" dirty="0"/>
              <a:t> matrix (</a:t>
            </a:r>
            <a:r>
              <a:rPr lang="fr-FR" dirty="0" err="1"/>
              <a:t>normalized</a:t>
            </a:r>
            <a:r>
              <a:rPr lang="fr-FR" dirty="0"/>
              <a:t> </a:t>
            </a:r>
            <a:r>
              <a:rPr lang="fr-FR" dirty="0" err="1"/>
              <a:t>gene</a:t>
            </a:r>
            <a:r>
              <a:rPr lang="fr-FR" dirty="0"/>
              <a:t> expression matrix)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27195BC-E029-5C1E-A839-F1BF22A6D8CA}"/>
              </a:ext>
            </a:extLst>
          </p:cNvPr>
          <p:cNvSpPr txBox="1"/>
          <p:nvPr/>
        </p:nvSpPr>
        <p:spPr>
          <a:xfrm>
            <a:off x="410227" y="3654614"/>
            <a:ext cx="7545053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err="1"/>
              <a:t>tpm_matrix</a:t>
            </a:r>
            <a:r>
              <a:rPr lang="fr-FR" dirty="0"/>
              <a:t> &lt;- </a:t>
            </a:r>
            <a:r>
              <a:rPr lang="fr-FR" dirty="0" err="1"/>
              <a:t>as.data.frame</a:t>
            </a:r>
            <a:r>
              <a:rPr lang="fr-FR" dirty="0"/>
              <a:t>(</a:t>
            </a:r>
            <a:r>
              <a:rPr lang="fr-FR" dirty="0" err="1"/>
              <a:t>assays</a:t>
            </a:r>
            <a:r>
              <a:rPr lang="fr-FR" dirty="0"/>
              <a:t>(</a:t>
            </a:r>
            <a:r>
              <a:rPr lang="fr-FR" dirty="0" err="1"/>
              <a:t>tcga_data</a:t>
            </a:r>
            <a:r>
              <a:rPr lang="fr-FR" dirty="0"/>
              <a:t>)$</a:t>
            </a:r>
            <a:r>
              <a:rPr lang="fr-FR" dirty="0" err="1"/>
              <a:t>tpm_unstrand</a:t>
            </a:r>
            <a:r>
              <a:rPr lang="fr-FR" dirty="0"/>
              <a:t>)</a:t>
            </a:r>
          </a:p>
          <a:p>
            <a:r>
              <a:rPr lang="fr-FR" dirty="0" err="1"/>
              <a:t>head</a:t>
            </a:r>
            <a:r>
              <a:rPr lang="fr-FR" dirty="0"/>
              <a:t>(matrix)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CE9D2D2-FBEC-2A1B-66CC-68D6C7E00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6" y="4660542"/>
            <a:ext cx="11706615" cy="1673755"/>
          </a:xfrm>
          <a:prstGeom prst="rect">
            <a:avLst/>
          </a:prstGeo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DF4D6BB8-9B5E-AB0A-DD78-5773CEA4EBF6}"/>
              </a:ext>
            </a:extLst>
          </p:cNvPr>
          <p:cNvSpPr/>
          <p:nvPr/>
        </p:nvSpPr>
        <p:spPr>
          <a:xfrm>
            <a:off x="0" y="4771506"/>
            <a:ext cx="1878677" cy="1795550"/>
          </a:xfrm>
          <a:custGeom>
            <a:avLst/>
            <a:gdLst>
              <a:gd name="connsiteX0" fmla="*/ 0 w 1878677"/>
              <a:gd name="connsiteY0" fmla="*/ 897775 h 1795550"/>
              <a:gd name="connsiteX1" fmla="*/ 939339 w 1878677"/>
              <a:gd name="connsiteY1" fmla="*/ 0 h 1795550"/>
              <a:gd name="connsiteX2" fmla="*/ 1878678 w 1878677"/>
              <a:gd name="connsiteY2" fmla="*/ 897775 h 1795550"/>
              <a:gd name="connsiteX3" fmla="*/ 939339 w 1878677"/>
              <a:gd name="connsiteY3" fmla="*/ 1795550 h 1795550"/>
              <a:gd name="connsiteX4" fmla="*/ 0 w 1878677"/>
              <a:gd name="connsiteY4" fmla="*/ 897775 h 1795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8677" h="1795550" extrusionOk="0">
                <a:moveTo>
                  <a:pt x="0" y="897775"/>
                </a:moveTo>
                <a:cubicBezTo>
                  <a:pt x="-15102" y="392633"/>
                  <a:pt x="333444" y="32694"/>
                  <a:pt x="939339" y="0"/>
                </a:cubicBezTo>
                <a:cubicBezTo>
                  <a:pt x="1508039" y="10509"/>
                  <a:pt x="1781310" y="405044"/>
                  <a:pt x="1878678" y="897775"/>
                </a:cubicBezTo>
                <a:cubicBezTo>
                  <a:pt x="1811485" y="1459219"/>
                  <a:pt x="1446055" y="1862245"/>
                  <a:pt x="939339" y="1795550"/>
                </a:cubicBezTo>
                <a:cubicBezTo>
                  <a:pt x="365350" y="1765346"/>
                  <a:pt x="85765" y="1434581"/>
                  <a:pt x="0" y="897775"/>
                </a:cubicBezTo>
                <a:close/>
              </a:path>
            </a:pathLst>
          </a:custGeom>
          <a:noFill/>
          <a:ln>
            <a:solidFill>
              <a:srgbClr val="00B0F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2C46779-03F2-906B-62E7-7F767ABE1B6A}"/>
              </a:ext>
            </a:extLst>
          </p:cNvPr>
          <p:cNvSpPr txBox="1"/>
          <p:nvPr/>
        </p:nvSpPr>
        <p:spPr>
          <a:xfrm>
            <a:off x="450405" y="6567056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Genes</a:t>
            </a:r>
            <a:endParaRPr lang="fr-FR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603EF920-4FE6-E8A1-D3DD-06163CF14005}"/>
              </a:ext>
            </a:extLst>
          </p:cNvPr>
          <p:cNvSpPr/>
          <p:nvPr/>
        </p:nvSpPr>
        <p:spPr>
          <a:xfrm>
            <a:off x="1942473" y="4472772"/>
            <a:ext cx="9891734" cy="646331"/>
          </a:xfrm>
          <a:prstGeom prst="ellipse">
            <a:avLst/>
          </a:prstGeom>
          <a:noFill/>
          <a:ln>
            <a:solidFill>
              <a:schemeClr val="accent5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9891734"/>
                      <a:gd name="connsiteY0" fmla="*/ 323166 h 646331"/>
                      <a:gd name="connsiteX1" fmla="*/ 4945867 w 9891734"/>
                      <a:gd name="connsiteY1" fmla="*/ 0 h 646331"/>
                      <a:gd name="connsiteX2" fmla="*/ 9891734 w 9891734"/>
                      <a:gd name="connsiteY2" fmla="*/ 323166 h 646331"/>
                      <a:gd name="connsiteX3" fmla="*/ 4945867 w 9891734"/>
                      <a:gd name="connsiteY3" fmla="*/ 646332 h 646331"/>
                      <a:gd name="connsiteX4" fmla="*/ 0 w 9891734"/>
                      <a:gd name="connsiteY4" fmla="*/ 323166 h 6463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891734" h="646331" extrusionOk="0">
                        <a:moveTo>
                          <a:pt x="0" y="323166"/>
                        </a:moveTo>
                        <a:cubicBezTo>
                          <a:pt x="-387333" y="-94230"/>
                          <a:pt x="1784475" y="161335"/>
                          <a:pt x="4945867" y="0"/>
                        </a:cubicBezTo>
                        <a:cubicBezTo>
                          <a:pt x="7684198" y="1432"/>
                          <a:pt x="9866380" y="145492"/>
                          <a:pt x="9891734" y="323166"/>
                        </a:cubicBezTo>
                        <a:cubicBezTo>
                          <a:pt x="9512597" y="871894"/>
                          <a:pt x="7610373" y="1016780"/>
                          <a:pt x="4945867" y="646332"/>
                        </a:cubicBezTo>
                        <a:cubicBezTo>
                          <a:pt x="2176123" y="625422"/>
                          <a:pt x="12264" y="507506"/>
                          <a:pt x="0" y="32316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007243F-E53F-2E3A-082E-1D9A23ADC6DE}"/>
              </a:ext>
            </a:extLst>
          </p:cNvPr>
          <p:cNvSpPr txBox="1"/>
          <p:nvPr/>
        </p:nvSpPr>
        <p:spPr>
          <a:xfrm>
            <a:off x="9131664" y="4166974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Samples</a:t>
            </a:r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A633C2-06CF-76FF-B078-D7105065B73E}"/>
              </a:ext>
            </a:extLst>
          </p:cNvPr>
          <p:cNvSpPr/>
          <p:nvPr/>
        </p:nvSpPr>
        <p:spPr>
          <a:xfrm>
            <a:off x="6176356" y="5825686"/>
            <a:ext cx="648393" cy="24964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DF82690B-6DB6-1959-8287-B39347DE2981}"/>
              </a:ext>
            </a:extLst>
          </p:cNvPr>
          <p:cNvSpPr/>
          <p:nvPr/>
        </p:nvSpPr>
        <p:spPr>
          <a:xfrm rot="5400000" flipH="1">
            <a:off x="6374218" y="5906908"/>
            <a:ext cx="1096148" cy="1185052"/>
          </a:xfrm>
          <a:prstGeom prst="arc">
            <a:avLst/>
          </a:prstGeom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9E2EDDDF-F994-A0E0-1763-25DA2C8706E6}"/>
              </a:ext>
            </a:extLst>
          </p:cNvPr>
          <p:cNvSpPr txBox="1"/>
          <p:nvPr/>
        </p:nvSpPr>
        <p:spPr>
          <a:xfrm>
            <a:off x="7556494" y="6458533"/>
            <a:ext cx="1855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Expression value</a:t>
            </a:r>
          </a:p>
        </p:txBody>
      </p:sp>
    </p:spTree>
    <p:extLst>
      <p:ext uri="{BB962C8B-B14F-4D97-AF65-F5344CB8AC3E}">
        <p14:creationId xmlns:p14="http://schemas.microsoft.com/office/powerpoint/2010/main" val="1481133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2889D-B03E-5BCA-47C4-D2FFE4870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EF7E211F-B48B-F2C1-8A9F-DEFCC532F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 err="1"/>
              <a:t>Query</a:t>
            </a:r>
            <a:r>
              <a:rPr lang="fr-FR" dirty="0"/>
              <a:t> the TCGA </a:t>
            </a:r>
            <a:r>
              <a:rPr lang="fr-FR" dirty="0" err="1"/>
              <a:t>database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R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F07F842-645E-698C-A7CE-7FA0D203B6CA}"/>
              </a:ext>
            </a:extLst>
          </p:cNvPr>
          <p:cNvSpPr txBox="1"/>
          <p:nvPr/>
        </p:nvSpPr>
        <p:spPr>
          <a:xfrm>
            <a:off x="266644" y="1544647"/>
            <a:ext cx="11658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Then</a:t>
            </a:r>
            <a:r>
              <a:rPr lang="fr-FR" dirty="0"/>
              <a:t>, a </a:t>
            </a:r>
            <a:r>
              <a:rPr lang="fr-FR" dirty="0" err="1"/>
              <a:t>pre-processing</a:t>
            </a:r>
            <a:r>
              <a:rPr lang="fr-FR" dirty="0"/>
              <a:t> </a:t>
            </a:r>
            <a:r>
              <a:rPr lang="fr-FR" dirty="0" err="1"/>
              <a:t>step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necessary</a:t>
            </a:r>
            <a:r>
              <a:rPr lang="fr-FR" dirty="0"/>
              <a:t> </a:t>
            </a:r>
            <a:r>
              <a:rPr lang="fr-FR" dirty="0" err="1"/>
              <a:t>before</a:t>
            </a:r>
            <a:r>
              <a:rPr lang="fr-FR" dirty="0"/>
              <a:t> </a:t>
            </a:r>
            <a:r>
              <a:rPr lang="fr-FR" dirty="0" err="1"/>
              <a:t>starting</a:t>
            </a:r>
            <a:r>
              <a:rPr lang="fr-FR" dirty="0"/>
              <a:t> </a:t>
            </a:r>
            <a:r>
              <a:rPr lang="fr-FR" dirty="0" err="1"/>
              <a:t>any</a:t>
            </a:r>
            <a:r>
              <a:rPr lang="fr-FR" dirty="0"/>
              <a:t> </a:t>
            </a:r>
            <a:r>
              <a:rPr lang="fr-FR" dirty="0" err="1"/>
              <a:t>analysis</a:t>
            </a:r>
            <a:r>
              <a:rPr lang="fr-FR" dirty="0"/>
              <a:t>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443E91-20E9-4046-3F61-2FE297A336A1}"/>
              </a:ext>
            </a:extLst>
          </p:cNvPr>
          <p:cNvSpPr/>
          <p:nvPr/>
        </p:nvSpPr>
        <p:spPr>
          <a:xfrm>
            <a:off x="838200" y="1986742"/>
            <a:ext cx="4580313" cy="229431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EDB5BF1-9787-3E8E-542A-B86D8808E1DE}"/>
              </a:ext>
            </a:extLst>
          </p:cNvPr>
          <p:cNvSpPr txBox="1"/>
          <p:nvPr/>
        </p:nvSpPr>
        <p:spPr>
          <a:xfrm>
            <a:off x="975360" y="2118236"/>
            <a:ext cx="430599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Filter</a:t>
            </a:r>
            <a:r>
              <a:rPr lang="fr-FR" dirty="0"/>
              <a:t> </a:t>
            </a:r>
            <a:r>
              <a:rPr lang="fr-FR" dirty="0" err="1"/>
              <a:t>low-expressed</a:t>
            </a:r>
            <a:r>
              <a:rPr lang="fr-FR" dirty="0"/>
              <a:t> </a:t>
            </a:r>
            <a:r>
              <a:rPr lang="fr-FR" dirty="0" err="1"/>
              <a:t>genes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sample</a:t>
            </a:r>
            <a:r>
              <a:rPr lang="fr-FR" dirty="0"/>
              <a:t> labels and </a:t>
            </a:r>
            <a:r>
              <a:rPr lang="fr-FR" dirty="0" err="1"/>
              <a:t>transform</a:t>
            </a:r>
            <a:r>
              <a:rPr lang="fr-FR" dirty="0"/>
              <a:t> </a:t>
            </a:r>
            <a:r>
              <a:rPr lang="fr-FR" dirty="0" err="1"/>
              <a:t>them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binary</a:t>
            </a:r>
            <a:r>
              <a:rPr lang="fr-FR" dirty="0"/>
              <a:t> factor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Transpose the data to have </a:t>
            </a:r>
            <a:r>
              <a:rPr lang="fr-FR" dirty="0" err="1"/>
              <a:t>genes</a:t>
            </a:r>
            <a:r>
              <a:rPr lang="fr-FR" dirty="0"/>
              <a:t> in </a:t>
            </a:r>
            <a:r>
              <a:rPr lang="fr-FR" dirty="0" err="1"/>
              <a:t>columns</a:t>
            </a:r>
            <a:r>
              <a:rPr lang="fr-FR" dirty="0"/>
              <a:t> and </a:t>
            </a:r>
            <a:r>
              <a:rPr lang="fr-FR" dirty="0" err="1"/>
              <a:t>samples</a:t>
            </a:r>
            <a:r>
              <a:rPr lang="fr-FR" dirty="0"/>
              <a:t> in </a:t>
            </a:r>
            <a:r>
              <a:rPr lang="fr-FR" dirty="0" err="1"/>
              <a:t>rows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AD4F9C7-E96C-F7AB-030A-6E763D5405F2}"/>
              </a:ext>
            </a:extLst>
          </p:cNvPr>
          <p:cNvSpPr txBox="1"/>
          <p:nvPr/>
        </p:nvSpPr>
        <p:spPr>
          <a:xfrm>
            <a:off x="266644" y="4944022"/>
            <a:ext cx="11658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You can download the final version of the file on Moodle: </a:t>
            </a:r>
            <a:r>
              <a:rPr lang="fr-FR" i="1" dirty="0" err="1"/>
              <a:t>breast_tcga_gene_expression_matrix.csv</a:t>
            </a:r>
            <a:endParaRPr lang="fr-FR" i="1" dirty="0"/>
          </a:p>
        </p:txBody>
      </p:sp>
    </p:spTree>
    <p:extLst>
      <p:ext uri="{BB962C8B-B14F-4D97-AF65-F5344CB8AC3E}">
        <p14:creationId xmlns:p14="http://schemas.microsoft.com/office/powerpoint/2010/main" val="10125713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94BB6A0B-369B-84A6-AFCE-30138704894A}"/>
              </a:ext>
            </a:extLst>
          </p:cNvPr>
          <p:cNvSpPr txBox="1"/>
          <p:nvPr/>
        </p:nvSpPr>
        <p:spPr>
          <a:xfrm>
            <a:off x="229442" y="2053094"/>
            <a:ext cx="5919539" cy="1477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err="1"/>
              <a:t>query_TCGA</a:t>
            </a:r>
            <a:r>
              <a:rPr lang="fr-FR" dirty="0"/>
              <a:t> = </a:t>
            </a:r>
            <a:r>
              <a:rPr lang="fr-FR" dirty="0" err="1"/>
              <a:t>GDCquery</a:t>
            </a:r>
            <a:r>
              <a:rPr lang="fr-FR" dirty="0"/>
              <a:t>(</a:t>
            </a:r>
          </a:p>
          <a:p>
            <a:r>
              <a:rPr lang="fr-FR" dirty="0"/>
              <a:t>  </a:t>
            </a:r>
            <a:r>
              <a:rPr lang="fr-FR" dirty="0" err="1"/>
              <a:t>project</a:t>
            </a:r>
            <a:r>
              <a:rPr lang="fr-FR" dirty="0"/>
              <a:t> = "TCGA-BRCA",</a:t>
            </a:r>
          </a:p>
          <a:p>
            <a:r>
              <a:rPr lang="fr-FR" dirty="0"/>
              <a:t>  </a:t>
            </a:r>
            <a:r>
              <a:rPr lang="fr-FR" dirty="0" err="1"/>
              <a:t>data.category</a:t>
            </a:r>
            <a:r>
              <a:rPr lang="fr-FR" dirty="0"/>
              <a:t> = "</a:t>
            </a:r>
            <a:r>
              <a:rPr lang="fr-FR" dirty="0" err="1"/>
              <a:t>Proteome</a:t>
            </a:r>
            <a:r>
              <a:rPr lang="fr-FR" dirty="0"/>
              <a:t> Profiling", </a:t>
            </a:r>
          </a:p>
          <a:p>
            <a:r>
              <a:rPr lang="fr-FR" dirty="0"/>
              <a:t>  </a:t>
            </a:r>
            <a:r>
              <a:rPr lang="fr-FR" dirty="0" err="1"/>
              <a:t>sample.type</a:t>
            </a:r>
            <a:r>
              <a:rPr lang="fr-FR" dirty="0"/>
              <a:t> = c("</a:t>
            </a:r>
            <a:r>
              <a:rPr lang="fr-FR" dirty="0" err="1"/>
              <a:t>Primary</a:t>
            </a:r>
            <a:r>
              <a:rPr lang="fr-FR" dirty="0"/>
              <a:t> </a:t>
            </a:r>
            <a:r>
              <a:rPr lang="fr-FR" dirty="0" err="1"/>
              <a:t>Tumor</a:t>
            </a:r>
            <a:r>
              <a:rPr lang="fr-FR" dirty="0"/>
              <a:t>", "Solid Tissue Normal")</a:t>
            </a:r>
          </a:p>
          <a:p>
            <a:r>
              <a:rPr lang="fr-FR" dirty="0"/>
              <a:t>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3060236-8FD8-83AD-FA09-44947DF7413C}"/>
              </a:ext>
            </a:extLst>
          </p:cNvPr>
          <p:cNvSpPr txBox="1"/>
          <p:nvPr/>
        </p:nvSpPr>
        <p:spPr>
          <a:xfrm>
            <a:off x="311947" y="1586072"/>
            <a:ext cx="11239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Get</a:t>
            </a:r>
            <a:r>
              <a:rPr lang="fr-FR" dirty="0"/>
              <a:t> all the files </a:t>
            </a:r>
            <a:r>
              <a:rPr lang="fr-FR" dirty="0" err="1"/>
              <a:t>corresponding</a:t>
            </a:r>
            <a:r>
              <a:rPr lang="fr-FR" dirty="0"/>
              <a:t> to </a:t>
            </a:r>
            <a:r>
              <a:rPr lang="fr-FR" u="sng" dirty="0">
                <a:uFill>
                  <a:solidFill>
                    <a:srgbClr val="00B050"/>
                  </a:solidFill>
                </a:uFill>
              </a:rPr>
              <a:t>proteomics</a:t>
            </a:r>
            <a:r>
              <a:rPr lang="fr-FR" dirty="0"/>
              <a:t> data and </a:t>
            </a:r>
            <a:r>
              <a:rPr lang="fr-FR" dirty="0" err="1"/>
              <a:t>concerning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</a:t>
            </a:r>
            <a:r>
              <a:rPr lang="fr-FR" dirty="0" err="1"/>
              <a:t>primary</a:t>
            </a:r>
            <a:r>
              <a:rPr lang="fr-FR" dirty="0"/>
              <a:t> </a:t>
            </a:r>
            <a:r>
              <a:rPr lang="fr-FR" dirty="0" err="1"/>
              <a:t>tumors</a:t>
            </a:r>
            <a:r>
              <a:rPr lang="fr-FR" dirty="0"/>
              <a:t> and normal </a:t>
            </a:r>
            <a:r>
              <a:rPr lang="fr-FR" dirty="0" err="1"/>
              <a:t>samples</a:t>
            </a:r>
            <a:r>
              <a:rPr lang="fr-FR" dirty="0"/>
              <a:t> : 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3EC5BFDC-19F8-1C88-AF2E-B0CBC8250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 err="1"/>
              <a:t>Query</a:t>
            </a:r>
            <a:r>
              <a:rPr lang="fr-FR" dirty="0"/>
              <a:t> the TCGA </a:t>
            </a:r>
            <a:r>
              <a:rPr lang="fr-FR" dirty="0" err="1"/>
              <a:t>database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R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B63EA96-CEC0-B051-140F-6E37A9CB1C26}"/>
              </a:ext>
            </a:extLst>
          </p:cNvPr>
          <p:cNvSpPr txBox="1"/>
          <p:nvPr/>
        </p:nvSpPr>
        <p:spPr>
          <a:xfrm>
            <a:off x="311947" y="3908094"/>
            <a:ext cx="4617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Download files (</a:t>
            </a:r>
            <a:r>
              <a:rPr lang="fr-FR" i="1" dirty="0"/>
              <a:t>do not run </a:t>
            </a:r>
            <a:r>
              <a:rPr lang="fr-FR" i="1" dirty="0" err="1"/>
              <a:t>this</a:t>
            </a:r>
            <a:r>
              <a:rPr lang="fr-FR" i="1" dirty="0"/>
              <a:t> command</a:t>
            </a:r>
            <a:r>
              <a:rPr lang="fr-FR" dirty="0"/>
              <a:t>)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628BCBD-F856-45C5-BAF1-BEB6602BF658}"/>
              </a:ext>
            </a:extLst>
          </p:cNvPr>
          <p:cNvSpPr txBox="1"/>
          <p:nvPr/>
        </p:nvSpPr>
        <p:spPr>
          <a:xfrm>
            <a:off x="229441" y="4416679"/>
            <a:ext cx="5919539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err="1"/>
              <a:t>GDCdownload</a:t>
            </a:r>
            <a:r>
              <a:rPr lang="fr-FR" dirty="0"/>
              <a:t>(</a:t>
            </a:r>
            <a:r>
              <a:rPr lang="fr-FR" dirty="0" err="1"/>
              <a:t>query</a:t>
            </a:r>
            <a:r>
              <a:rPr lang="fr-FR" dirty="0"/>
              <a:t> = </a:t>
            </a:r>
            <a:r>
              <a:rPr lang="fr-FR" dirty="0" err="1"/>
              <a:t>query_TCGA</a:t>
            </a:r>
            <a:r>
              <a:rPr lang="fr-FR" dirty="0"/>
              <a:t>)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DD0B852-6605-8C1E-6F7D-379F399427C8}"/>
              </a:ext>
            </a:extLst>
          </p:cNvPr>
          <p:cNvSpPr txBox="1"/>
          <p:nvPr/>
        </p:nvSpPr>
        <p:spPr>
          <a:xfrm>
            <a:off x="229441" y="5731263"/>
            <a:ext cx="5919539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err="1"/>
              <a:t>tcga_data</a:t>
            </a:r>
            <a:r>
              <a:rPr lang="fr-FR" dirty="0"/>
              <a:t> = </a:t>
            </a:r>
            <a:r>
              <a:rPr lang="fr-FR" dirty="0" err="1"/>
              <a:t>GDCprepare</a:t>
            </a:r>
            <a:r>
              <a:rPr lang="fr-FR" dirty="0"/>
              <a:t>(</a:t>
            </a:r>
            <a:r>
              <a:rPr lang="fr-FR" dirty="0" err="1"/>
              <a:t>query_TCGA</a:t>
            </a:r>
            <a:r>
              <a:rPr lang="fr-FR" dirty="0"/>
              <a:t>)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B666F6D-7D09-17E3-8FBA-53A9F8680153}"/>
              </a:ext>
            </a:extLst>
          </p:cNvPr>
          <p:cNvSpPr txBox="1"/>
          <p:nvPr/>
        </p:nvSpPr>
        <p:spPr>
          <a:xfrm>
            <a:off x="311947" y="5166304"/>
            <a:ext cx="2114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Prepare</a:t>
            </a:r>
            <a:r>
              <a:rPr lang="fr-FR" dirty="0"/>
              <a:t> the data</a:t>
            </a:r>
          </a:p>
        </p:txBody>
      </p:sp>
    </p:spTree>
    <p:extLst>
      <p:ext uri="{BB962C8B-B14F-4D97-AF65-F5344CB8AC3E}">
        <p14:creationId xmlns:p14="http://schemas.microsoft.com/office/powerpoint/2010/main" val="4004441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9CF15-11BB-53A9-E4B7-A689614E0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37077AFB-123F-2B65-8B80-5C960C043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 err="1"/>
              <a:t>Query</a:t>
            </a:r>
            <a:r>
              <a:rPr lang="fr-FR" dirty="0"/>
              <a:t> the TCGA </a:t>
            </a:r>
            <a:r>
              <a:rPr lang="fr-FR" dirty="0" err="1"/>
              <a:t>database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R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1681D4D-9912-70D0-095B-52C880EB7675}"/>
              </a:ext>
            </a:extLst>
          </p:cNvPr>
          <p:cNvSpPr txBox="1"/>
          <p:nvPr/>
        </p:nvSpPr>
        <p:spPr>
          <a:xfrm>
            <a:off x="266644" y="1544647"/>
            <a:ext cx="11658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Here</a:t>
            </a:r>
            <a:r>
              <a:rPr lang="fr-FR" dirty="0"/>
              <a:t> </a:t>
            </a:r>
            <a:r>
              <a:rPr lang="fr-FR" dirty="0" err="1"/>
              <a:t>again</a:t>
            </a:r>
            <a:r>
              <a:rPr lang="fr-FR" dirty="0"/>
              <a:t>, a </a:t>
            </a:r>
            <a:r>
              <a:rPr lang="fr-FR" dirty="0" err="1"/>
              <a:t>pre-processing</a:t>
            </a:r>
            <a:r>
              <a:rPr lang="fr-FR" dirty="0"/>
              <a:t> </a:t>
            </a:r>
            <a:r>
              <a:rPr lang="fr-FR" dirty="0" err="1"/>
              <a:t>step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necessary</a:t>
            </a:r>
            <a:r>
              <a:rPr lang="fr-FR" dirty="0"/>
              <a:t> </a:t>
            </a:r>
            <a:r>
              <a:rPr lang="fr-FR" dirty="0" err="1"/>
              <a:t>before</a:t>
            </a:r>
            <a:r>
              <a:rPr lang="fr-FR" dirty="0"/>
              <a:t> </a:t>
            </a:r>
            <a:r>
              <a:rPr lang="fr-FR" dirty="0" err="1"/>
              <a:t>starting</a:t>
            </a:r>
            <a:r>
              <a:rPr lang="fr-FR" dirty="0"/>
              <a:t> </a:t>
            </a:r>
            <a:r>
              <a:rPr lang="fr-FR" dirty="0" err="1"/>
              <a:t>any</a:t>
            </a:r>
            <a:r>
              <a:rPr lang="fr-FR" dirty="0"/>
              <a:t> </a:t>
            </a:r>
            <a:r>
              <a:rPr lang="fr-FR" dirty="0" err="1"/>
              <a:t>analysis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316177-D21E-60E6-FF1D-FBA702279932}"/>
              </a:ext>
            </a:extLst>
          </p:cNvPr>
          <p:cNvSpPr/>
          <p:nvPr/>
        </p:nvSpPr>
        <p:spPr>
          <a:xfrm>
            <a:off x="838200" y="1986741"/>
            <a:ext cx="4580313" cy="483800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CA376E9-A133-B811-11C8-DF48484F8375}"/>
              </a:ext>
            </a:extLst>
          </p:cNvPr>
          <p:cNvSpPr txBox="1"/>
          <p:nvPr/>
        </p:nvSpPr>
        <p:spPr>
          <a:xfrm>
            <a:off x="975360" y="2118236"/>
            <a:ext cx="430599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Remove</a:t>
            </a:r>
            <a:r>
              <a:rPr lang="fr-FR" dirty="0"/>
              <a:t> annotation </a:t>
            </a:r>
            <a:r>
              <a:rPr lang="fr-FR" dirty="0" err="1"/>
              <a:t>columns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the expression matrix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Choose</a:t>
            </a:r>
            <a:r>
              <a:rPr lang="fr-FR" dirty="0"/>
              <a:t> an unique id to </a:t>
            </a:r>
            <a:r>
              <a:rPr lang="fr-FR" dirty="0" err="1"/>
              <a:t>represent</a:t>
            </a:r>
            <a:r>
              <a:rPr lang="fr-FR" dirty="0"/>
              <a:t> </a:t>
            </a:r>
            <a:r>
              <a:rPr lang="fr-FR" dirty="0" err="1"/>
              <a:t>proteins</a:t>
            </a:r>
            <a:r>
              <a:rPr lang="fr-FR" dirty="0"/>
              <a:t>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used</a:t>
            </a:r>
            <a:r>
              <a:rPr lang="fr-FR" dirty="0"/>
              <a:t> as </a:t>
            </a:r>
            <a:r>
              <a:rPr lang="fr-FR" dirty="0" err="1"/>
              <a:t>features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Filter</a:t>
            </a:r>
            <a:r>
              <a:rPr lang="fr-FR" dirty="0"/>
              <a:t> </a:t>
            </a:r>
            <a:r>
              <a:rPr lang="fr-FR" dirty="0" err="1"/>
              <a:t>low-expressed</a:t>
            </a:r>
            <a:r>
              <a:rPr lang="fr-FR" dirty="0"/>
              <a:t> or </a:t>
            </a:r>
            <a:r>
              <a:rPr lang="fr-FR" dirty="0" err="1"/>
              <a:t>unexpressed</a:t>
            </a:r>
            <a:r>
              <a:rPr lang="fr-FR" dirty="0"/>
              <a:t> </a:t>
            </a:r>
            <a:r>
              <a:rPr lang="fr-FR" dirty="0" err="1"/>
              <a:t>proteins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Replace NA values by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sample</a:t>
            </a:r>
            <a:r>
              <a:rPr lang="fr-FR" dirty="0"/>
              <a:t> labels and </a:t>
            </a:r>
            <a:r>
              <a:rPr lang="fr-FR" dirty="0" err="1"/>
              <a:t>transform</a:t>
            </a:r>
            <a:r>
              <a:rPr lang="fr-FR" dirty="0"/>
              <a:t> </a:t>
            </a:r>
            <a:r>
              <a:rPr lang="fr-FR" dirty="0" err="1"/>
              <a:t>them</a:t>
            </a:r>
            <a:r>
              <a:rPr lang="fr-FR" dirty="0"/>
              <a:t> 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binary</a:t>
            </a:r>
            <a:r>
              <a:rPr lang="fr-FR" dirty="0"/>
              <a:t> factor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Transpose the data to have </a:t>
            </a:r>
            <a:r>
              <a:rPr lang="fr-FR" dirty="0" err="1"/>
              <a:t>genes</a:t>
            </a:r>
            <a:r>
              <a:rPr lang="fr-FR" dirty="0"/>
              <a:t> in </a:t>
            </a:r>
            <a:r>
              <a:rPr lang="fr-FR" dirty="0" err="1"/>
              <a:t>columns</a:t>
            </a:r>
            <a:r>
              <a:rPr lang="fr-FR" dirty="0"/>
              <a:t> and </a:t>
            </a:r>
            <a:r>
              <a:rPr lang="fr-FR" dirty="0" err="1"/>
              <a:t>samples</a:t>
            </a:r>
            <a:r>
              <a:rPr lang="fr-FR" dirty="0"/>
              <a:t> in </a:t>
            </a:r>
            <a:r>
              <a:rPr lang="fr-FR" dirty="0" err="1"/>
              <a:t>rows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343702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5ECEC2D-3307-4AB3-CF25-F13E74EF6EC4}"/>
              </a:ext>
            </a:extLst>
          </p:cNvPr>
          <p:cNvSpPr txBox="1"/>
          <p:nvPr/>
        </p:nvSpPr>
        <p:spPr>
          <a:xfrm>
            <a:off x="212080" y="1694313"/>
            <a:ext cx="10220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You can download the final version of the file on Moodle: </a:t>
            </a:r>
            <a:r>
              <a:rPr lang="fr-FR" dirty="0" err="1"/>
              <a:t>breast_proteomics_expression.csv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38FD5D6-A24B-841F-0135-49BE7C3C8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124" y="3268855"/>
            <a:ext cx="7048500" cy="2984500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AEBAFDFB-D091-52E6-BA04-4166D0DF4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 err="1"/>
              <a:t>Query</a:t>
            </a:r>
            <a:r>
              <a:rPr lang="fr-FR" dirty="0"/>
              <a:t> the TCGA </a:t>
            </a:r>
            <a:r>
              <a:rPr lang="fr-FR" dirty="0" err="1"/>
              <a:t>database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72D59E-1FC8-C8AA-5639-A16191E4C33E}"/>
              </a:ext>
            </a:extLst>
          </p:cNvPr>
          <p:cNvSpPr/>
          <p:nvPr/>
        </p:nvSpPr>
        <p:spPr>
          <a:xfrm rot="21306666">
            <a:off x="1937994" y="6328023"/>
            <a:ext cx="968896" cy="357372"/>
          </a:xfrm>
          <a:custGeom>
            <a:avLst/>
            <a:gdLst>
              <a:gd name="connsiteX0" fmla="*/ 0 w 968896"/>
              <a:gd name="connsiteY0" fmla="*/ 0 h 357372"/>
              <a:gd name="connsiteX1" fmla="*/ 968896 w 968896"/>
              <a:gd name="connsiteY1" fmla="*/ 0 h 357372"/>
              <a:gd name="connsiteX2" fmla="*/ 968896 w 968896"/>
              <a:gd name="connsiteY2" fmla="*/ 357372 h 357372"/>
              <a:gd name="connsiteX3" fmla="*/ 0 w 968896"/>
              <a:gd name="connsiteY3" fmla="*/ 357372 h 357372"/>
              <a:gd name="connsiteX4" fmla="*/ 0 w 968896"/>
              <a:gd name="connsiteY4" fmla="*/ 0 h 357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8896" h="357372" fill="none" extrusionOk="0">
                <a:moveTo>
                  <a:pt x="0" y="0"/>
                </a:moveTo>
                <a:cubicBezTo>
                  <a:pt x="182705" y="72419"/>
                  <a:pt x="792141" y="-31896"/>
                  <a:pt x="968896" y="0"/>
                </a:cubicBezTo>
                <a:cubicBezTo>
                  <a:pt x="956245" y="83420"/>
                  <a:pt x="943730" y="216227"/>
                  <a:pt x="968896" y="357372"/>
                </a:cubicBezTo>
                <a:cubicBezTo>
                  <a:pt x="718330" y="313814"/>
                  <a:pt x="195428" y="407883"/>
                  <a:pt x="0" y="357372"/>
                </a:cubicBezTo>
                <a:cubicBezTo>
                  <a:pt x="15911" y="251320"/>
                  <a:pt x="25286" y="135129"/>
                  <a:pt x="0" y="0"/>
                </a:cubicBezTo>
                <a:close/>
              </a:path>
              <a:path w="968896" h="357372" stroke="0" extrusionOk="0">
                <a:moveTo>
                  <a:pt x="0" y="0"/>
                </a:moveTo>
                <a:cubicBezTo>
                  <a:pt x="368222" y="-5313"/>
                  <a:pt x="814524" y="-10666"/>
                  <a:pt x="968896" y="0"/>
                </a:cubicBezTo>
                <a:cubicBezTo>
                  <a:pt x="951006" y="37775"/>
                  <a:pt x="970755" y="253257"/>
                  <a:pt x="968896" y="357372"/>
                </a:cubicBezTo>
                <a:cubicBezTo>
                  <a:pt x="701141" y="274806"/>
                  <a:pt x="156812" y="305450"/>
                  <a:pt x="0" y="357372"/>
                </a:cubicBezTo>
                <a:cubicBezTo>
                  <a:pt x="-20626" y="283475"/>
                  <a:pt x="26213" y="168541"/>
                  <a:pt x="0" y="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solidFill>
              <a:srgbClr val="FFC4F3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327D4F4B-B3B8-CF5F-3ACD-AA5463E20854}"/>
              </a:ext>
            </a:extLst>
          </p:cNvPr>
          <p:cNvSpPr/>
          <p:nvPr/>
        </p:nvSpPr>
        <p:spPr>
          <a:xfrm rot="5400000">
            <a:off x="921173" y="3873173"/>
            <a:ext cx="3061064" cy="1852429"/>
          </a:xfrm>
          <a:prstGeom prst="ellipse">
            <a:avLst/>
          </a:prstGeom>
          <a:noFill/>
          <a:ln>
            <a:solidFill>
              <a:schemeClr val="accent5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9891734"/>
                      <a:gd name="connsiteY0" fmla="*/ 323166 h 646331"/>
                      <a:gd name="connsiteX1" fmla="*/ 4945867 w 9891734"/>
                      <a:gd name="connsiteY1" fmla="*/ 0 h 646331"/>
                      <a:gd name="connsiteX2" fmla="*/ 9891734 w 9891734"/>
                      <a:gd name="connsiteY2" fmla="*/ 323166 h 646331"/>
                      <a:gd name="connsiteX3" fmla="*/ 4945867 w 9891734"/>
                      <a:gd name="connsiteY3" fmla="*/ 646332 h 646331"/>
                      <a:gd name="connsiteX4" fmla="*/ 0 w 9891734"/>
                      <a:gd name="connsiteY4" fmla="*/ 323166 h 6463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891734" h="646331" extrusionOk="0">
                        <a:moveTo>
                          <a:pt x="0" y="323166"/>
                        </a:moveTo>
                        <a:cubicBezTo>
                          <a:pt x="-387333" y="-94230"/>
                          <a:pt x="1784475" y="161335"/>
                          <a:pt x="4945867" y="0"/>
                        </a:cubicBezTo>
                        <a:cubicBezTo>
                          <a:pt x="7684198" y="1432"/>
                          <a:pt x="9866380" y="145492"/>
                          <a:pt x="9891734" y="323166"/>
                        </a:cubicBezTo>
                        <a:cubicBezTo>
                          <a:pt x="9512597" y="871894"/>
                          <a:pt x="7610373" y="1016780"/>
                          <a:pt x="4945867" y="646332"/>
                        </a:cubicBezTo>
                        <a:cubicBezTo>
                          <a:pt x="2176123" y="625422"/>
                          <a:pt x="12264" y="507506"/>
                          <a:pt x="0" y="32316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43461C6-092F-E0DB-5C18-D42DEA6E6821}"/>
              </a:ext>
            </a:extLst>
          </p:cNvPr>
          <p:cNvSpPr txBox="1"/>
          <p:nvPr/>
        </p:nvSpPr>
        <p:spPr>
          <a:xfrm>
            <a:off x="1924529" y="6318378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Samples</a:t>
            </a:r>
            <a:endParaRPr lang="fr-FR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B37B4010-CE54-1C37-9562-C2D566DF8BC7}"/>
              </a:ext>
            </a:extLst>
          </p:cNvPr>
          <p:cNvSpPr/>
          <p:nvPr/>
        </p:nvSpPr>
        <p:spPr>
          <a:xfrm>
            <a:off x="3192087" y="2834640"/>
            <a:ext cx="806335" cy="349134"/>
          </a:xfrm>
          <a:custGeom>
            <a:avLst/>
            <a:gdLst>
              <a:gd name="connsiteX0" fmla="*/ 0 w 806335"/>
              <a:gd name="connsiteY0" fmla="*/ 174567 h 349134"/>
              <a:gd name="connsiteX1" fmla="*/ 403168 w 806335"/>
              <a:gd name="connsiteY1" fmla="*/ 0 h 349134"/>
              <a:gd name="connsiteX2" fmla="*/ 806336 w 806335"/>
              <a:gd name="connsiteY2" fmla="*/ 174567 h 349134"/>
              <a:gd name="connsiteX3" fmla="*/ 403168 w 806335"/>
              <a:gd name="connsiteY3" fmla="*/ 349134 h 349134"/>
              <a:gd name="connsiteX4" fmla="*/ 0 w 806335"/>
              <a:gd name="connsiteY4" fmla="*/ 174567 h 349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6335" h="349134" fill="none" extrusionOk="0">
                <a:moveTo>
                  <a:pt x="0" y="174567"/>
                </a:moveTo>
                <a:cubicBezTo>
                  <a:pt x="37312" y="82582"/>
                  <a:pt x="185074" y="-9404"/>
                  <a:pt x="403168" y="0"/>
                </a:cubicBezTo>
                <a:cubicBezTo>
                  <a:pt x="617454" y="-1283"/>
                  <a:pt x="799266" y="84812"/>
                  <a:pt x="806336" y="174567"/>
                </a:cubicBezTo>
                <a:cubicBezTo>
                  <a:pt x="802681" y="236120"/>
                  <a:pt x="610057" y="371057"/>
                  <a:pt x="403168" y="349134"/>
                </a:cubicBezTo>
                <a:cubicBezTo>
                  <a:pt x="188249" y="353470"/>
                  <a:pt x="13883" y="274316"/>
                  <a:pt x="0" y="174567"/>
                </a:cubicBezTo>
                <a:close/>
              </a:path>
              <a:path w="806335" h="349134" stroke="0" extrusionOk="0">
                <a:moveTo>
                  <a:pt x="0" y="174567"/>
                </a:moveTo>
                <a:cubicBezTo>
                  <a:pt x="-26861" y="61588"/>
                  <a:pt x="147059" y="12552"/>
                  <a:pt x="403168" y="0"/>
                </a:cubicBezTo>
                <a:cubicBezTo>
                  <a:pt x="627724" y="398"/>
                  <a:pt x="794334" y="78538"/>
                  <a:pt x="806336" y="174567"/>
                </a:cubicBezTo>
                <a:cubicBezTo>
                  <a:pt x="804334" y="272933"/>
                  <a:pt x="619076" y="386477"/>
                  <a:pt x="403168" y="349134"/>
                </a:cubicBezTo>
                <a:cubicBezTo>
                  <a:pt x="166485" y="341464"/>
                  <a:pt x="9668" y="275597"/>
                  <a:pt x="0" y="174567"/>
                </a:cubicBezTo>
                <a:close/>
              </a:path>
            </a:pathLst>
          </a:custGeom>
          <a:solidFill>
            <a:srgbClr val="FF5042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BB2585F-40CD-FDD6-AEEA-518BC1B4AD4A}"/>
              </a:ext>
            </a:extLst>
          </p:cNvPr>
          <p:cNvSpPr txBox="1"/>
          <p:nvPr/>
        </p:nvSpPr>
        <p:spPr>
          <a:xfrm>
            <a:off x="3261104" y="2846954"/>
            <a:ext cx="737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Label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AAB9E9F-3C59-A96C-0EC7-262BCB74ABC7}"/>
              </a:ext>
            </a:extLst>
          </p:cNvPr>
          <p:cNvSpPr/>
          <p:nvPr/>
        </p:nvSpPr>
        <p:spPr>
          <a:xfrm rot="16200000" flipH="1" flipV="1">
            <a:off x="3744273" y="2146131"/>
            <a:ext cx="646331" cy="1185052"/>
          </a:xfrm>
          <a:prstGeom prst="arc">
            <a:avLst>
              <a:gd name="adj1" fmla="val 17262711"/>
              <a:gd name="adj2" fmla="val 0"/>
            </a:avLst>
          </a:prstGeom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5C7ACA80-7A56-3BFD-4F29-7A13FF338F8E}"/>
              </a:ext>
            </a:extLst>
          </p:cNvPr>
          <p:cNvSpPr txBox="1"/>
          <p:nvPr/>
        </p:nvSpPr>
        <p:spPr>
          <a:xfrm>
            <a:off x="4555559" y="2555619"/>
            <a:ext cx="1553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0: normal </a:t>
            </a:r>
            <a:r>
              <a:rPr lang="fr-FR" sz="1400" dirty="0" err="1"/>
              <a:t>sample</a:t>
            </a:r>
            <a:endParaRPr lang="fr-FR" sz="1400" dirty="0"/>
          </a:p>
          <a:p>
            <a:r>
              <a:rPr lang="fr-FR" sz="1400" dirty="0"/>
              <a:t>1: cancer </a:t>
            </a:r>
            <a:r>
              <a:rPr lang="fr-FR" sz="1400" dirty="0" err="1"/>
              <a:t>sample</a:t>
            </a:r>
            <a:endParaRPr lang="fr-FR" sz="1400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405072E1-EBF1-EB98-9C0D-7CB953D03F44}"/>
              </a:ext>
            </a:extLst>
          </p:cNvPr>
          <p:cNvSpPr/>
          <p:nvPr/>
        </p:nvSpPr>
        <p:spPr>
          <a:xfrm>
            <a:off x="3779586" y="3192291"/>
            <a:ext cx="4990341" cy="449424"/>
          </a:xfrm>
          <a:prstGeom prst="ellipse">
            <a:avLst/>
          </a:prstGeom>
          <a:noFill/>
          <a:ln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9891734"/>
                      <a:gd name="connsiteY0" fmla="*/ 323166 h 646331"/>
                      <a:gd name="connsiteX1" fmla="*/ 4945867 w 9891734"/>
                      <a:gd name="connsiteY1" fmla="*/ 0 h 646331"/>
                      <a:gd name="connsiteX2" fmla="*/ 9891734 w 9891734"/>
                      <a:gd name="connsiteY2" fmla="*/ 323166 h 646331"/>
                      <a:gd name="connsiteX3" fmla="*/ 4945867 w 9891734"/>
                      <a:gd name="connsiteY3" fmla="*/ 646332 h 646331"/>
                      <a:gd name="connsiteX4" fmla="*/ 0 w 9891734"/>
                      <a:gd name="connsiteY4" fmla="*/ 323166 h 6463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891734" h="646331" extrusionOk="0">
                        <a:moveTo>
                          <a:pt x="0" y="323166"/>
                        </a:moveTo>
                        <a:cubicBezTo>
                          <a:pt x="-387333" y="-94230"/>
                          <a:pt x="1784475" y="161335"/>
                          <a:pt x="4945867" y="0"/>
                        </a:cubicBezTo>
                        <a:cubicBezTo>
                          <a:pt x="7684198" y="1432"/>
                          <a:pt x="9866380" y="145492"/>
                          <a:pt x="9891734" y="323166"/>
                        </a:cubicBezTo>
                        <a:cubicBezTo>
                          <a:pt x="9512597" y="871894"/>
                          <a:pt x="7610373" y="1016780"/>
                          <a:pt x="4945867" y="646332"/>
                        </a:cubicBezTo>
                        <a:cubicBezTo>
                          <a:pt x="2176123" y="625422"/>
                          <a:pt x="12264" y="507506"/>
                          <a:pt x="0" y="32316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FCDF6C-672B-B4EA-1E88-3A0AE4E9C602}"/>
              </a:ext>
            </a:extLst>
          </p:cNvPr>
          <p:cNvSpPr/>
          <p:nvPr/>
        </p:nvSpPr>
        <p:spPr>
          <a:xfrm>
            <a:off x="8041555" y="2846954"/>
            <a:ext cx="1097703" cy="418096"/>
          </a:xfrm>
          <a:custGeom>
            <a:avLst/>
            <a:gdLst>
              <a:gd name="connsiteX0" fmla="*/ 0 w 1097703"/>
              <a:gd name="connsiteY0" fmla="*/ 0 h 418096"/>
              <a:gd name="connsiteX1" fmla="*/ 1097703 w 1097703"/>
              <a:gd name="connsiteY1" fmla="*/ 0 h 418096"/>
              <a:gd name="connsiteX2" fmla="*/ 1097703 w 1097703"/>
              <a:gd name="connsiteY2" fmla="*/ 418096 h 418096"/>
              <a:gd name="connsiteX3" fmla="*/ 0 w 1097703"/>
              <a:gd name="connsiteY3" fmla="*/ 418096 h 418096"/>
              <a:gd name="connsiteX4" fmla="*/ 0 w 1097703"/>
              <a:gd name="connsiteY4" fmla="*/ 0 h 418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703" h="418096" fill="none" extrusionOk="0">
                <a:moveTo>
                  <a:pt x="0" y="0"/>
                </a:moveTo>
                <a:cubicBezTo>
                  <a:pt x="465686" y="-83623"/>
                  <a:pt x="709151" y="14221"/>
                  <a:pt x="1097703" y="0"/>
                </a:cubicBezTo>
                <a:cubicBezTo>
                  <a:pt x="1100952" y="149179"/>
                  <a:pt x="1085635" y="325262"/>
                  <a:pt x="1097703" y="418096"/>
                </a:cubicBezTo>
                <a:cubicBezTo>
                  <a:pt x="887965" y="384928"/>
                  <a:pt x="323663" y="502528"/>
                  <a:pt x="0" y="418096"/>
                </a:cubicBezTo>
                <a:cubicBezTo>
                  <a:pt x="-8453" y="210400"/>
                  <a:pt x="16724" y="124875"/>
                  <a:pt x="0" y="0"/>
                </a:cubicBezTo>
                <a:close/>
              </a:path>
              <a:path w="1097703" h="418096" stroke="0" extrusionOk="0">
                <a:moveTo>
                  <a:pt x="0" y="0"/>
                </a:moveTo>
                <a:cubicBezTo>
                  <a:pt x="159749" y="88438"/>
                  <a:pt x="589189" y="13456"/>
                  <a:pt x="1097703" y="0"/>
                </a:cubicBezTo>
                <a:cubicBezTo>
                  <a:pt x="1100241" y="115844"/>
                  <a:pt x="1130150" y="277714"/>
                  <a:pt x="1097703" y="418096"/>
                </a:cubicBezTo>
                <a:cubicBezTo>
                  <a:pt x="731388" y="504415"/>
                  <a:pt x="132919" y="326191"/>
                  <a:pt x="0" y="418096"/>
                </a:cubicBezTo>
                <a:cubicBezTo>
                  <a:pt x="-34349" y="276295"/>
                  <a:pt x="23344" y="181991"/>
                  <a:pt x="0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tx1"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06946C5-8E4B-61EC-87E2-967B07FA7D8D}"/>
              </a:ext>
            </a:extLst>
          </p:cNvPr>
          <p:cNvSpPr txBox="1"/>
          <p:nvPr/>
        </p:nvSpPr>
        <p:spPr>
          <a:xfrm>
            <a:off x="8073323" y="2893866"/>
            <a:ext cx="1005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Proteins</a:t>
            </a:r>
            <a:endParaRPr lang="fr-FR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1304F7-5CB4-E362-7D8B-2DDBFCE7C7C7}"/>
              </a:ext>
            </a:extLst>
          </p:cNvPr>
          <p:cNvSpPr/>
          <p:nvPr/>
        </p:nvSpPr>
        <p:spPr>
          <a:xfrm rot="21306666">
            <a:off x="9358963" y="5912176"/>
            <a:ext cx="2262775" cy="552833"/>
          </a:xfrm>
          <a:custGeom>
            <a:avLst/>
            <a:gdLst>
              <a:gd name="connsiteX0" fmla="*/ 0 w 2262775"/>
              <a:gd name="connsiteY0" fmla="*/ 0 h 552833"/>
              <a:gd name="connsiteX1" fmla="*/ 2262775 w 2262775"/>
              <a:gd name="connsiteY1" fmla="*/ 0 h 552833"/>
              <a:gd name="connsiteX2" fmla="*/ 2262775 w 2262775"/>
              <a:gd name="connsiteY2" fmla="*/ 552833 h 552833"/>
              <a:gd name="connsiteX3" fmla="*/ 0 w 2262775"/>
              <a:gd name="connsiteY3" fmla="*/ 552833 h 552833"/>
              <a:gd name="connsiteX4" fmla="*/ 0 w 2262775"/>
              <a:gd name="connsiteY4" fmla="*/ 0 h 552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2775" h="552833" fill="none" extrusionOk="0">
                <a:moveTo>
                  <a:pt x="0" y="0"/>
                </a:moveTo>
                <a:cubicBezTo>
                  <a:pt x="278263" y="-49533"/>
                  <a:pt x="1980549" y="-14809"/>
                  <a:pt x="2262775" y="0"/>
                </a:cubicBezTo>
                <a:cubicBezTo>
                  <a:pt x="2243911" y="87686"/>
                  <a:pt x="2243400" y="318382"/>
                  <a:pt x="2262775" y="552833"/>
                </a:cubicBezTo>
                <a:cubicBezTo>
                  <a:pt x="1563470" y="504602"/>
                  <a:pt x="708880" y="637288"/>
                  <a:pt x="0" y="552833"/>
                </a:cubicBezTo>
                <a:cubicBezTo>
                  <a:pt x="41090" y="461963"/>
                  <a:pt x="-13116" y="164274"/>
                  <a:pt x="0" y="0"/>
                </a:cubicBezTo>
                <a:close/>
              </a:path>
              <a:path w="2262775" h="552833" stroke="0" extrusionOk="0">
                <a:moveTo>
                  <a:pt x="0" y="0"/>
                </a:moveTo>
                <a:cubicBezTo>
                  <a:pt x="457325" y="118645"/>
                  <a:pt x="1954312" y="116012"/>
                  <a:pt x="2262775" y="0"/>
                </a:cubicBezTo>
                <a:cubicBezTo>
                  <a:pt x="2233081" y="271472"/>
                  <a:pt x="2236259" y="443549"/>
                  <a:pt x="2262775" y="552833"/>
                </a:cubicBezTo>
                <a:cubicBezTo>
                  <a:pt x="1553267" y="687433"/>
                  <a:pt x="337217" y="395637"/>
                  <a:pt x="0" y="552833"/>
                </a:cubicBezTo>
                <a:cubicBezTo>
                  <a:pt x="-7506" y="417775"/>
                  <a:pt x="-42259" y="235721"/>
                  <a:pt x="0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solidFill>
              <a:srgbClr val="FFC4F3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6AC73C-98AF-65A4-4370-178DDC8115A5}"/>
              </a:ext>
            </a:extLst>
          </p:cNvPr>
          <p:cNvSpPr/>
          <p:nvPr/>
        </p:nvSpPr>
        <p:spPr>
          <a:xfrm>
            <a:off x="7788599" y="5331450"/>
            <a:ext cx="806761" cy="28404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F7EA1133-A566-8AED-C305-62DDB10BD404}"/>
              </a:ext>
            </a:extLst>
          </p:cNvPr>
          <p:cNvSpPr/>
          <p:nvPr/>
        </p:nvSpPr>
        <p:spPr>
          <a:xfrm rot="5400000" flipH="1">
            <a:off x="8157248" y="5417479"/>
            <a:ext cx="1096148" cy="1185052"/>
          </a:xfrm>
          <a:prstGeom prst="arc">
            <a:avLst/>
          </a:prstGeom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93BA053-4C02-2FA7-17BF-BFFFB1A34C51}"/>
              </a:ext>
            </a:extLst>
          </p:cNvPr>
          <p:cNvSpPr txBox="1"/>
          <p:nvPr/>
        </p:nvSpPr>
        <p:spPr>
          <a:xfrm>
            <a:off x="9339524" y="5990620"/>
            <a:ext cx="2192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Quantification value</a:t>
            </a:r>
          </a:p>
        </p:txBody>
      </p:sp>
    </p:spTree>
    <p:extLst>
      <p:ext uri="{BB962C8B-B14F-4D97-AF65-F5344CB8AC3E}">
        <p14:creationId xmlns:p14="http://schemas.microsoft.com/office/powerpoint/2010/main" val="38435583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453A8EFF-7AB0-70F2-021B-FA59B216A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 err="1"/>
              <a:t>Metabolomics</a:t>
            </a:r>
            <a:r>
              <a:rPr lang="fr-FR" dirty="0"/>
              <a:t> data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7AC4553-5581-604C-D6FA-84F6CD7195C7}"/>
              </a:ext>
            </a:extLst>
          </p:cNvPr>
          <p:cNvSpPr txBox="1"/>
          <p:nvPr/>
        </p:nvSpPr>
        <p:spPr>
          <a:xfrm>
            <a:off x="276113" y="1604627"/>
            <a:ext cx="114031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Metabolomics</a:t>
            </a:r>
            <a:r>
              <a:rPr lang="fr-FR" dirty="0"/>
              <a:t> data are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en-US" sz="1800" dirty="0" err="1"/>
              <a:t>Budczies</a:t>
            </a:r>
            <a:r>
              <a:rPr lang="en-US" sz="1800" dirty="0"/>
              <a:t> </a:t>
            </a:r>
            <a:r>
              <a:rPr lang="en-US" sz="1800" i="1" dirty="0"/>
              <a:t>et al </a:t>
            </a:r>
            <a:r>
              <a:rPr lang="en-US" sz="1800" dirty="0"/>
              <a:t>(</a:t>
            </a:r>
            <a:r>
              <a:rPr lang="en-US" sz="1800" dirty="0">
                <a:hlinkClick r:id="rId2"/>
              </a:rPr>
              <a:t>https://doi.org/10.1016/j.jprot.2013.10.002</a:t>
            </a:r>
            <a:r>
              <a:rPr lang="en-US" sz="1800" dirty="0"/>
              <a:t>).</a:t>
            </a:r>
          </a:p>
          <a:p>
            <a:r>
              <a:rPr lang="en-US" sz="1800" dirty="0"/>
              <a:t>They concern estrogen receptor positive (ER+) and estrogen receptor negative (ER-) breast cancer.</a:t>
            </a:r>
          </a:p>
          <a:p>
            <a:r>
              <a:rPr lang="en-US" sz="1800" dirty="0"/>
              <a:t>The data are made up of 271 samples, 204 ER+ (labeled 1) and 67 ER- (labeled 0).</a:t>
            </a:r>
            <a:endParaRPr lang="fr-FR" dirty="0"/>
          </a:p>
        </p:txBody>
      </p:sp>
      <p:pic>
        <p:nvPicPr>
          <p:cNvPr id="11" name="Image 10" descr="Une image contenant texte, capture d’écran, nombre, menu&#10;&#10;Description générée automatiquement">
            <a:extLst>
              <a:ext uri="{FF2B5EF4-FFF2-40B4-BE49-F238E27FC236}">
                <a16:creationId xmlns:a16="http://schemas.microsoft.com/office/drawing/2014/main" id="{6C0DB696-B21C-B972-456F-958152AE3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026" y="2930190"/>
            <a:ext cx="7198745" cy="3325404"/>
          </a:xfrm>
          <a:prstGeom prst="rect">
            <a:avLst/>
          </a:prstGeom>
        </p:spPr>
      </p:pic>
      <p:sp>
        <p:nvSpPr>
          <p:cNvPr id="12" name="Ellipse 11">
            <a:extLst>
              <a:ext uri="{FF2B5EF4-FFF2-40B4-BE49-F238E27FC236}">
                <a16:creationId xmlns:a16="http://schemas.microsoft.com/office/drawing/2014/main" id="{E35FD1AC-5DD4-7DE2-EBB1-486685958291}"/>
              </a:ext>
            </a:extLst>
          </p:cNvPr>
          <p:cNvSpPr/>
          <p:nvPr/>
        </p:nvSpPr>
        <p:spPr>
          <a:xfrm>
            <a:off x="2605781" y="2803185"/>
            <a:ext cx="6845758" cy="449424"/>
          </a:xfrm>
          <a:prstGeom prst="ellipse">
            <a:avLst/>
          </a:prstGeom>
          <a:noFill/>
          <a:ln>
            <a:solidFill>
              <a:srgbClr val="FFC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9891734"/>
                      <a:gd name="connsiteY0" fmla="*/ 323166 h 646331"/>
                      <a:gd name="connsiteX1" fmla="*/ 4945867 w 9891734"/>
                      <a:gd name="connsiteY1" fmla="*/ 0 h 646331"/>
                      <a:gd name="connsiteX2" fmla="*/ 9891734 w 9891734"/>
                      <a:gd name="connsiteY2" fmla="*/ 323166 h 646331"/>
                      <a:gd name="connsiteX3" fmla="*/ 4945867 w 9891734"/>
                      <a:gd name="connsiteY3" fmla="*/ 646332 h 646331"/>
                      <a:gd name="connsiteX4" fmla="*/ 0 w 9891734"/>
                      <a:gd name="connsiteY4" fmla="*/ 323166 h 6463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891734" h="646331" extrusionOk="0">
                        <a:moveTo>
                          <a:pt x="0" y="323166"/>
                        </a:moveTo>
                        <a:cubicBezTo>
                          <a:pt x="-387333" y="-94230"/>
                          <a:pt x="1784475" y="161335"/>
                          <a:pt x="4945867" y="0"/>
                        </a:cubicBezTo>
                        <a:cubicBezTo>
                          <a:pt x="7684198" y="1432"/>
                          <a:pt x="9866380" y="145492"/>
                          <a:pt x="9891734" y="323166"/>
                        </a:cubicBezTo>
                        <a:cubicBezTo>
                          <a:pt x="9512597" y="871894"/>
                          <a:pt x="7610373" y="1016780"/>
                          <a:pt x="4945867" y="646332"/>
                        </a:cubicBezTo>
                        <a:cubicBezTo>
                          <a:pt x="2176123" y="625422"/>
                          <a:pt x="12264" y="507506"/>
                          <a:pt x="0" y="32316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B61CED-639E-DB12-6AD2-070B969AD232}"/>
              </a:ext>
            </a:extLst>
          </p:cNvPr>
          <p:cNvSpPr/>
          <p:nvPr/>
        </p:nvSpPr>
        <p:spPr>
          <a:xfrm>
            <a:off x="9176449" y="2566888"/>
            <a:ext cx="1365630" cy="418096"/>
          </a:xfrm>
          <a:custGeom>
            <a:avLst/>
            <a:gdLst>
              <a:gd name="connsiteX0" fmla="*/ 0 w 1365630"/>
              <a:gd name="connsiteY0" fmla="*/ 0 h 418096"/>
              <a:gd name="connsiteX1" fmla="*/ 1365630 w 1365630"/>
              <a:gd name="connsiteY1" fmla="*/ 0 h 418096"/>
              <a:gd name="connsiteX2" fmla="*/ 1365630 w 1365630"/>
              <a:gd name="connsiteY2" fmla="*/ 418096 h 418096"/>
              <a:gd name="connsiteX3" fmla="*/ 0 w 1365630"/>
              <a:gd name="connsiteY3" fmla="*/ 418096 h 418096"/>
              <a:gd name="connsiteX4" fmla="*/ 0 w 1365630"/>
              <a:gd name="connsiteY4" fmla="*/ 0 h 418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65630" h="418096" fill="none" extrusionOk="0">
                <a:moveTo>
                  <a:pt x="0" y="0"/>
                </a:moveTo>
                <a:cubicBezTo>
                  <a:pt x="480253" y="-76017"/>
                  <a:pt x="683470" y="40504"/>
                  <a:pt x="1365630" y="0"/>
                </a:cubicBezTo>
                <a:cubicBezTo>
                  <a:pt x="1368879" y="149179"/>
                  <a:pt x="1353562" y="325262"/>
                  <a:pt x="1365630" y="418096"/>
                </a:cubicBezTo>
                <a:cubicBezTo>
                  <a:pt x="814062" y="380595"/>
                  <a:pt x="365623" y="342961"/>
                  <a:pt x="0" y="418096"/>
                </a:cubicBezTo>
                <a:cubicBezTo>
                  <a:pt x="-8453" y="210400"/>
                  <a:pt x="16724" y="124875"/>
                  <a:pt x="0" y="0"/>
                </a:cubicBezTo>
                <a:close/>
              </a:path>
              <a:path w="1365630" h="418096" stroke="0" extrusionOk="0">
                <a:moveTo>
                  <a:pt x="0" y="0"/>
                </a:moveTo>
                <a:cubicBezTo>
                  <a:pt x="278911" y="122733"/>
                  <a:pt x="845131" y="33493"/>
                  <a:pt x="1365630" y="0"/>
                </a:cubicBezTo>
                <a:cubicBezTo>
                  <a:pt x="1368168" y="115844"/>
                  <a:pt x="1398077" y="277714"/>
                  <a:pt x="1365630" y="418096"/>
                </a:cubicBezTo>
                <a:cubicBezTo>
                  <a:pt x="780440" y="505644"/>
                  <a:pt x="138536" y="327622"/>
                  <a:pt x="0" y="418096"/>
                </a:cubicBezTo>
                <a:cubicBezTo>
                  <a:pt x="-34349" y="276295"/>
                  <a:pt x="23344" y="181991"/>
                  <a:pt x="0" y="0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chemeClr val="tx1"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46DDA01-E595-4A2B-9D51-91AFF8DBFEAE}"/>
              </a:ext>
            </a:extLst>
          </p:cNvPr>
          <p:cNvSpPr txBox="1"/>
          <p:nvPr/>
        </p:nvSpPr>
        <p:spPr>
          <a:xfrm>
            <a:off x="9208217" y="2613800"/>
            <a:ext cx="1365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Metabolites</a:t>
            </a:r>
            <a:endParaRPr lang="fr-FR" dirty="0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DE6DF5D9-6A93-4D96-FFE4-B916766D3FEF}"/>
              </a:ext>
            </a:extLst>
          </p:cNvPr>
          <p:cNvSpPr/>
          <p:nvPr/>
        </p:nvSpPr>
        <p:spPr>
          <a:xfrm>
            <a:off x="1799446" y="2870963"/>
            <a:ext cx="806335" cy="349134"/>
          </a:xfrm>
          <a:custGeom>
            <a:avLst/>
            <a:gdLst>
              <a:gd name="connsiteX0" fmla="*/ 0 w 806335"/>
              <a:gd name="connsiteY0" fmla="*/ 174567 h 349134"/>
              <a:gd name="connsiteX1" fmla="*/ 403168 w 806335"/>
              <a:gd name="connsiteY1" fmla="*/ 0 h 349134"/>
              <a:gd name="connsiteX2" fmla="*/ 806336 w 806335"/>
              <a:gd name="connsiteY2" fmla="*/ 174567 h 349134"/>
              <a:gd name="connsiteX3" fmla="*/ 403168 w 806335"/>
              <a:gd name="connsiteY3" fmla="*/ 349134 h 349134"/>
              <a:gd name="connsiteX4" fmla="*/ 0 w 806335"/>
              <a:gd name="connsiteY4" fmla="*/ 174567 h 349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6335" h="349134" fill="none" extrusionOk="0">
                <a:moveTo>
                  <a:pt x="0" y="174567"/>
                </a:moveTo>
                <a:cubicBezTo>
                  <a:pt x="37312" y="82582"/>
                  <a:pt x="185074" y="-9404"/>
                  <a:pt x="403168" y="0"/>
                </a:cubicBezTo>
                <a:cubicBezTo>
                  <a:pt x="617454" y="-1283"/>
                  <a:pt x="799266" y="84812"/>
                  <a:pt x="806336" y="174567"/>
                </a:cubicBezTo>
                <a:cubicBezTo>
                  <a:pt x="802681" y="236120"/>
                  <a:pt x="610057" y="371057"/>
                  <a:pt x="403168" y="349134"/>
                </a:cubicBezTo>
                <a:cubicBezTo>
                  <a:pt x="188249" y="353470"/>
                  <a:pt x="13883" y="274316"/>
                  <a:pt x="0" y="174567"/>
                </a:cubicBezTo>
                <a:close/>
              </a:path>
              <a:path w="806335" h="349134" stroke="0" extrusionOk="0">
                <a:moveTo>
                  <a:pt x="0" y="174567"/>
                </a:moveTo>
                <a:cubicBezTo>
                  <a:pt x="-26861" y="61588"/>
                  <a:pt x="147059" y="12552"/>
                  <a:pt x="403168" y="0"/>
                </a:cubicBezTo>
                <a:cubicBezTo>
                  <a:pt x="627724" y="398"/>
                  <a:pt x="794334" y="78538"/>
                  <a:pt x="806336" y="174567"/>
                </a:cubicBezTo>
                <a:cubicBezTo>
                  <a:pt x="804334" y="272933"/>
                  <a:pt x="619076" y="386477"/>
                  <a:pt x="403168" y="349134"/>
                </a:cubicBezTo>
                <a:cubicBezTo>
                  <a:pt x="166485" y="341464"/>
                  <a:pt x="9668" y="275597"/>
                  <a:pt x="0" y="174567"/>
                </a:cubicBezTo>
                <a:close/>
              </a:path>
            </a:pathLst>
          </a:custGeom>
          <a:solidFill>
            <a:srgbClr val="FF5042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707E558-7567-4A38-8C00-B8F8D7892EA8}"/>
              </a:ext>
            </a:extLst>
          </p:cNvPr>
          <p:cNvSpPr txBox="1"/>
          <p:nvPr/>
        </p:nvSpPr>
        <p:spPr>
          <a:xfrm>
            <a:off x="1868463" y="2883277"/>
            <a:ext cx="737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Label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2F04A709-AC48-8B20-F28F-D7299B945E73}"/>
              </a:ext>
            </a:extLst>
          </p:cNvPr>
          <p:cNvSpPr/>
          <p:nvPr/>
        </p:nvSpPr>
        <p:spPr>
          <a:xfrm rot="3942432" flipH="1" flipV="1">
            <a:off x="1863971" y="2970576"/>
            <a:ext cx="646331" cy="1185052"/>
          </a:xfrm>
          <a:prstGeom prst="arc">
            <a:avLst>
              <a:gd name="adj1" fmla="val 17262711"/>
              <a:gd name="adj2" fmla="val 0"/>
            </a:avLst>
          </a:prstGeom>
          <a:ln w="127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EAA91930-A95C-56B3-1435-85FCA520B3FF}"/>
              </a:ext>
            </a:extLst>
          </p:cNvPr>
          <p:cNvSpPr txBox="1"/>
          <p:nvPr/>
        </p:nvSpPr>
        <p:spPr>
          <a:xfrm>
            <a:off x="580162" y="3672794"/>
            <a:ext cx="12891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0: ER- </a:t>
            </a:r>
            <a:r>
              <a:rPr lang="fr-FR" sz="1400" dirty="0" err="1"/>
              <a:t>sample</a:t>
            </a:r>
            <a:endParaRPr lang="fr-FR" sz="1400" dirty="0"/>
          </a:p>
          <a:p>
            <a:r>
              <a:rPr lang="fr-FR" sz="1400" dirty="0"/>
              <a:t>1: ER+ </a:t>
            </a:r>
            <a:r>
              <a:rPr lang="fr-FR" sz="1400" dirty="0" err="1"/>
              <a:t>sample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488170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FD5F90-4CC6-6E6B-FCFD-C5102CD19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Summary</a:t>
            </a:r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5A3467-1179-C36F-E2C7-6C20EEB34526}"/>
              </a:ext>
            </a:extLst>
          </p:cNvPr>
          <p:cNvSpPr/>
          <p:nvPr/>
        </p:nvSpPr>
        <p:spPr>
          <a:xfrm>
            <a:off x="903051" y="4235991"/>
            <a:ext cx="2563693" cy="58580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4A5A52D-90A7-EBFC-B02C-4E17F6492657}"/>
              </a:ext>
            </a:extLst>
          </p:cNvPr>
          <p:cNvSpPr txBox="1"/>
          <p:nvPr/>
        </p:nvSpPr>
        <p:spPr>
          <a:xfrm>
            <a:off x="972651" y="4328542"/>
            <a:ext cx="1965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Transcriptomics</a:t>
            </a:r>
          </a:p>
        </p:txBody>
      </p:sp>
      <p:pic>
        <p:nvPicPr>
          <p:cNvPr id="6" name="Image 5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1CBA41D6-7375-9457-301D-38054B39E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560477">
            <a:off x="2615527" y="4112337"/>
            <a:ext cx="832520" cy="83252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4F973D0-4BAE-7C9C-AF40-E24D91A5B79B}"/>
              </a:ext>
            </a:extLst>
          </p:cNvPr>
          <p:cNvSpPr/>
          <p:nvPr/>
        </p:nvSpPr>
        <p:spPr>
          <a:xfrm>
            <a:off x="4850556" y="4235991"/>
            <a:ext cx="2294414" cy="58580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7CC77D7-B947-3D90-A80E-EC283F4C91E6}"/>
              </a:ext>
            </a:extLst>
          </p:cNvPr>
          <p:cNvSpPr txBox="1"/>
          <p:nvPr/>
        </p:nvSpPr>
        <p:spPr>
          <a:xfrm>
            <a:off x="4920155" y="4328542"/>
            <a:ext cx="14501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Proteomics</a:t>
            </a:r>
          </a:p>
        </p:txBody>
      </p:sp>
      <p:pic>
        <p:nvPicPr>
          <p:cNvPr id="9" name="Image 8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96F123C0-D312-B88C-E14C-AFEC9D395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243221">
            <a:off x="6237463" y="4056046"/>
            <a:ext cx="859336" cy="85933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692EF39-F051-BE52-68EC-055E4BA523CE}"/>
              </a:ext>
            </a:extLst>
          </p:cNvPr>
          <p:cNvSpPr/>
          <p:nvPr/>
        </p:nvSpPr>
        <p:spPr>
          <a:xfrm>
            <a:off x="8280127" y="4236259"/>
            <a:ext cx="2692800" cy="5855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114E9A5-63EF-21F0-4333-CC6D074605EC}"/>
              </a:ext>
            </a:extLst>
          </p:cNvPr>
          <p:cNvSpPr txBox="1"/>
          <p:nvPr/>
        </p:nvSpPr>
        <p:spPr>
          <a:xfrm>
            <a:off x="8344507" y="4348299"/>
            <a:ext cx="17722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Metabolomics</a:t>
            </a:r>
          </a:p>
        </p:txBody>
      </p:sp>
      <p:pic>
        <p:nvPicPr>
          <p:cNvPr id="12" name="Image 11" descr="Une image contenant capture d’écran, conception, pixel&#10;&#10;Description générée automatiquement">
            <a:extLst>
              <a:ext uri="{FF2B5EF4-FFF2-40B4-BE49-F238E27FC236}">
                <a16:creationId xmlns:a16="http://schemas.microsoft.com/office/drawing/2014/main" id="{8050DBA4-2F82-A123-E037-5D28B98534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4049" y="4033915"/>
            <a:ext cx="1028878" cy="1028878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01388A90-F314-750D-AE3A-4D5D1A8E8C67}"/>
              </a:ext>
            </a:extLst>
          </p:cNvPr>
          <p:cNvSpPr txBox="1"/>
          <p:nvPr/>
        </p:nvSpPr>
        <p:spPr>
          <a:xfrm>
            <a:off x="5213402" y="1104878"/>
            <a:ext cx="26076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BREAST Cancer</a:t>
            </a:r>
          </a:p>
        </p:txBody>
      </p:sp>
      <p:pic>
        <p:nvPicPr>
          <p:cNvPr id="14" name="Image" descr="Image">
            <a:extLst>
              <a:ext uri="{FF2B5EF4-FFF2-40B4-BE49-F238E27FC236}">
                <a16:creationId xmlns:a16="http://schemas.microsoft.com/office/drawing/2014/main" id="{51227CCC-D14C-B698-BF86-5944EC1F6E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1039" y="965316"/>
            <a:ext cx="662782" cy="662782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Ellipse 21">
            <a:extLst>
              <a:ext uri="{FF2B5EF4-FFF2-40B4-BE49-F238E27FC236}">
                <a16:creationId xmlns:a16="http://schemas.microsoft.com/office/drawing/2014/main" id="{6CE7BEBE-7994-1E5C-C3CB-F69176B6922C}"/>
              </a:ext>
            </a:extLst>
          </p:cNvPr>
          <p:cNvSpPr/>
          <p:nvPr/>
        </p:nvSpPr>
        <p:spPr>
          <a:xfrm>
            <a:off x="3435066" y="2377530"/>
            <a:ext cx="1485089" cy="585809"/>
          </a:xfrm>
          <a:custGeom>
            <a:avLst/>
            <a:gdLst>
              <a:gd name="connsiteX0" fmla="*/ 0 w 1485089"/>
              <a:gd name="connsiteY0" fmla="*/ 292905 h 585809"/>
              <a:gd name="connsiteX1" fmla="*/ 742545 w 1485089"/>
              <a:gd name="connsiteY1" fmla="*/ 0 h 585809"/>
              <a:gd name="connsiteX2" fmla="*/ 1485090 w 1485089"/>
              <a:gd name="connsiteY2" fmla="*/ 292905 h 585809"/>
              <a:gd name="connsiteX3" fmla="*/ 742545 w 1485089"/>
              <a:gd name="connsiteY3" fmla="*/ 585810 h 585809"/>
              <a:gd name="connsiteX4" fmla="*/ 0 w 1485089"/>
              <a:gd name="connsiteY4" fmla="*/ 292905 h 585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5089" h="585809" fill="none" extrusionOk="0">
                <a:moveTo>
                  <a:pt x="0" y="292905"/>
                </a:moveTo>
                <a:cubicBezTo>
                  <a:pt x="21541" y="133693"/>
                  <a:pt x="352230" y="-40709"/>
                  <a:pt x="742545" y="0"/>
                </a:cubicBezTo>
                <a:cubicBezTo>
                  <a:pt x="1117892" y="-5321"/>
                  <a:pt x="1470634" y="144748"/>
                  <a:pt x="1485090" y="292905"/>
                </a:cubicBezTo>
                <a:cubicBezTo>
                  <a:pt x="1482436" y="429365"/>
                  <a:pt x="1146306" y="594614"/>
                  <a:pt x="742545" y="585810"/>
                </a:cubicBezTo>
                <a:cubicBezTo>
                  <a:pt x="336045" y="587823"/>
                  <a:pt x="25523" y="460809"/>
                  <a:pt x="0" y="292905"/>
                </a:cubicBezTo>
                <a:close/>
              </a:path>
              <a:path w="1485089" h="585809" stroke="0" extrusionOk="0">
                <a:moveTo>
                  <a:pt x="0" y="292905"/>
                </a:moveTo>
                <a:cubicBezTo>
                  <a:pt x="-15217" y="121752"/>
                  <a:pt x="305636" y="10063"/>
                  <a:pt x="742545" y="0"/>
                </a:cubicBezTo>
                <a:cubicBezTo>
                  <a:pt x="1180454" y="5855"/>
                  <a:pt x="1476750" y="131403"/>
                  <a:pt x="1485090" y="292905"/>
                </a:cubicBezTo>
                <a:cubicBezTo>
                  <a:pt x="1457005" y="482099"/>
                  <a:pt x="1149903" y="600942"/>
                  <a:pt x="742545" y="585810"/>
                </a:cubicBezTo>
                <a:cubicBezTo>
                  <a:pt x="327699" y="583211"/>
                  <a:pt x="13813" y="461272"/>
                  <a:pt x="0" y="29290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TCGA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F3C5B113-B69E-458B-E891-3B2AD6E8C7A2}"/>
              </a:ext>
            </a:extLst>
          </p:cNvPr>
          <p:cNvSpPr/>
          <p:nvPr/>
        </p:nvSpPr>
        <p:spPr>
          <a:xfrm>
            <a:off x="8699770" y="2380034"/>
            <a:ext cx="1838528" cy="585809"/>
          </a:xfrm>
          <a:custGeom>
            <a:avLst/>
            <a:gdLst>
              <a:gd name="connsiteX0" fmla="*/ 0 w 1838528"/>
              <a:gd name="connsiteY0" fmla="*/ 292905 h 585809"/>
              <a:gd name="connsiteX1" fmla="*/ 919264 w 1838528"/>
              <a:gd name="connsiteY1" fmla="*/ 0 h 585809"/>
              <a:gd name="connsiteX2" fmla="*/ 1838528 w 1838528"/>
              <a:gd name="connsiteY2" fmla="*/ 292905 h 585809"/>
              <a:gd name="connsiteX3" fmla="*/ 919264 w 1838528"/>
              <a:gd name="connsiteY3" fmla="*/ 585810 h 585809"/>
              <a:gd name="connsiteX4" fmla="*/ 0 w 1838528"/>
              <a:gd name="connsiteY4" fmla="*/ 292905 h 585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38528" h="585809" fill="none" extrusionOk="0">
                <a:moveTo>
                  <a:pt x="0" y="292905"/>
                </a:moveTo>
                <a:cubicBezTo>
                  <a:pt x="55055" y="137669"/>
                  <a:pt x="455771" y="-90967"/>
                  <a:pt x="919264" y="0"/>
                </a:cubicBezTo>
                <a:cubicBezTo>
                  <a:pt x="1392210" y="-5321"/>
                  <a:pt x="1824072" y="144748"/>
                  <a:pt x="1838528" y="292905"/>
                </a:cubicBezTo>
                <a:cubicBezTo>
                  <a:pt x="1832872" y="400731"/>
                  <a:pt x="1405649" y="615425"/>
                  <a:pt x="919264" y="585810"/>
                </a:cubicBezTo>
                <a:cubicBezTo>
                  <a:pt x="415165" y="587823"/>
                  <a:pt x="25523" y="460809"/>
                  <a:pt x="0" y="292905"/>
                </a:cubicBezTo>
                <a:close/>
              </a:path>
              <a:path w="1838528" h="585809" stroke="0" extrusionOk="0">
                <a:moveTo>
                  <a:pt x="0" y="292905"/>
                </a:moveTo>
                <a:cubicBezTo>
                  <a:pt x="-12678" y="123318"/>
                  <a:pt x="320298" y="34256"/>
                  <a:pt x="919264" y="0"/>
                </a:cubicBezTo>
                <a:cubicBezTo>
                  <a:pt x="1454772" y="5855"/>
                  <a:pt x="1830188" y="131403"/>
                  <a:pt x="1838528" y="292905"/>
                </a:cubicBezTo>
                <a:cubicBezTo>
                  <a:pt x="1779493" y="512322"/>
                  <a:pt x="1408884" y="685717"/>
                  <a:pt x="919264" y="585810"/>
                </a:cubicBezTo>
                <a:cubicBezTo>
                  <a:pt x="406819" y="583211"/>
                  <a:pt x="13813" y="461272"/>
                  <a:pt x="0" y="29290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tx1"/>
                </a:solidFill>
              </a:rPr>
              <a:t>Litterature</a:t>
            </a:r>
            <a:endParaRPr lang="fr-FR" dirty="0">
              <a:solidFill>
                <a:schemeClr val="tx1"/>
              </a:solidFill>
            </a:endParaRPr>
          </a:p>
        </p:txBody>
      </p: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135066CB-3B2C-55B3-9A8B-D881B465C9BC}"/>
              </a:ext>
            </a:extLst>
          </p:cNvPr>
          <p:cNvCxnSpPr>
            <a:stCxn id="13" idx="2"/>
            <a:endCxn id="22" idx="0"/>
          </p:cNvCxnSpPr>
          <p:nvPr/>
        </p:nvCxnSpPr>
        <p:spPr>
          <a:xfrm flipH="1">
            <a:off x="4177611" y="1628098"/>
            <a:ext cx="2339610" cy="7494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E36A344D-842E-7993-F2C2-61174DB7C442}"/>
              </a:ext>
            </a:extLst>
          </p:cNvPr>
          <p:cNvCxnSpPr>
            <a:stCxn id="13" idx="2"/>
            <a:endCxn id="23" idx="0"/>
          </p:cNvCxnSpPr>
          <p:nvPr/>
        </p:nvCxnSpPr>
        <p:spPr>
          <a:xfrm>
            <a:off x="6517221" y="1628098"/>
            <a:ext cx="3101813" cy="7519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B8D53C57-A87E-63AF-BC6F-337190570D6E}"/>
              </a:ext>
            </a:extLst>
          </p:cNvPr>
          <p:cNvCxnSpPr>
            <a:stCxn id="22" idx="4"/>
          </p:cNvCxnSpPr>
          <p:nvPr/>
        </p:nvCxnSpPr>
        <p:spPr>
          <a:xfrm flipH="1">
            <a:off x="1955644" y="2963339"/>
            <a:ext cx="2221967" cy="12726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39AABCBA-B4AC-125E-5D15-815C5A3006D7}"/>
              </a:ext>
            </a:extLst>
          </p:cNvPr>
          <p:cNvCxnSpPr>
            <a:stCxn id="22" idx="4"/>
            <a:endCxn id="7" idx="0"/>
          </p:cNvCxnSpPr>
          <p:nvPr/>
        </p:nvCxnSpPr>
        <p:spPr>
          <a:xfrm>
            <a:off x="4177611" y="2963339"/>
            <a:ext cx="1820152" cy="12726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716594C2-7BB5-3E8B-B1F0-2F11B9E3BFA6}"/>
              </a:ext>
            </a:extLst>
          </p:cNvPr>
          <p:cNvCxnSpPr>
            <a:stCxn id="23" idx="4"/>
            <a:endCxn id="10" idx="0"/>
          </p:cNvCxnSpPr>
          <p:nvPr/>
        </p:nvCxnSpPr>
        <p:spPr>
          <a:xfrm>
            <a:off x="9619034" y="2965843"/>
            <a:ext cx="7493" cy="12704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ZoneTexte 33">
            <a:extLst>
              <a:ext uri="{FF2B5EF4-FFF2-40B4-BE49-F238E27FC236}">
                <a16:creationId xmlns:a16="http://schemas.microsoft.com/office/drawing/2014/main" id="{D2DF0663-B3E2-9485-94E2-B43898DB25D9}"/>
              </a:ext>
            </a:extLst>
          </p:cNvPr>
          <p:cNvSpPr txBox="1"/>
          <p:nvPr/>
        </p:nvSpPr>
        <p:spPr>
          <a:xfrm>
            <a:off x="1207202" y="5033153"/>
            <a:ext cx="17314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1’225 patients</a:t>
            </a:r>
          </a:p>
          <a:p>
            <a:r>
              <a:rPr lang="fr-FR" dirty="0"/>
              <a:t>48’405 </a:t>
            </a:r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A5B8528A-8C45-2E96-99A2-9333FD991712}"/>
              </a:ext>
            </a:extLst>
          </p:cNvPr>
          <p:cNvSpPr txBox="1"/>
          <p:nvPr/>
        </p:nvSpPr>
        <p:spPr>
          <a:xfrm>
            <a:off x="5206591" y="5033152"/>
            <a:ext cx="14176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914 patients</a:t>
            </a:r>
          </a:p>
          <a:p>
            <a:r>
              <a:rPr lang="fr-FR" dirty="0"/>
              <a:t>465 </a:t>
            </a:r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A10712FD-1FDF-81BE-209C-B8C1AA1C31D2}"/>
              </a:ext>
            </a:extLst>
          </p:cNvPr>
          <p:cNvSpPr txBox="1"/>
          <p:nvPr/>
        </p:nvSpPr>
        <p:spPr>
          <a:xfrm>
            <a:off x="8942973" y="5033151"/>
            <a:ext cx="14176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271 patients</a:t>
            </a:r>
          </a:p>
          <a:p>
            <a:r>
              <a:rPr lang="fr-FR" dirty="0"/>
              <a:t>163 </a:t>
            </a:r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53158721-EB0B-8728-7209-CBE8AFADF27F}"/>
              </a:ext>
            </a:extLst>
          </p:cNvPr>
          <p:cNvSpPr txBox="1"/>
          <p:nvPr/>
        </p:nvSpPr>
        <p:spPr>
          <a:xfrm>
            <a:off x="4321701" y="6305805"/>
            <a:ext cx="38307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Beware</a:t>
            </a:r>
            <a:r>
              <a:rPr lang="fr-FR" sz="2400" dirty="0"/>
              <a:t> of class </a:t>
            </a:r>
            <a:r>
              <a:rPr lang="fr-FR" sz="2400" dirty="0" err="1"/>
              <a:t>imbalance</a:t>
            </a:r>
            <a:r>
              <a:rPr lang="fr-FR" sz="2400" dirty="0"/>
              <a:t>!</a:t>
            </a:r>
          </a:p>
        </p:txBody>
      </p:sp>
      <p:pic>
        <p:nvPicPr>
          <p:cNvPr id="40" name="Graphique 39" descr="Avertissement avec un remplissage uni">
            <a:extLst>
              <a:ext uri="{FF2B5EF4-FFF2-40B4-BE49-F238E27FC236}">
                <a16:creationId xmlns:a16="http://schemas.microsoft.com/office/drawing/2014/main" id="{59086172-D949-207E-DCBC-E35704D65E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44531" y="6176416"/>
            <a:ext cx="632917" cy="63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1170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308E40-F852-A6FB-5298-CE216D4B0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turn</a:t>
            </a:r>
            <a:r>
              <a:rPr lang="fr-FR" dirty="0"/>
              <a:t> to </a:t>
            </a:r>
            <a:r>
              <a:rPr lang="fr-FR" dirty="0" err="1"/>
              <a:t>play</a:t>
            </a:r>
            <a:r>
              <a:rPr lang="fr-FR" dirty="0"/>
              <a:t>!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29AB546-5737-171E-74B9-99AD0B8B3306}"/>
              </a:ext>
            </a:extLst>
          </p:cNvPr>
          <p:cNvSpPr txBox="1"/>
          <p:nvPr/>
        </p:nvSpPr>
        <p:spPr>
          <a:xfrm>
            <a:off x="212081" y="1694313"/>
            <a:ext cx="60214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Apply the workflow on </a:t>
            </a:r>
            <a:r>
              <a:rPr lang="fr-FR" dirty="0" err="1"/>
              <a:t>your</a:t>
            </a:r>
            <a:r>
              <a:rPr lang="fr-FR" dirty="0"/>
              <a:t> data:</a:t>
            </a:r>
          </a:p>
          <a:p>
            <a:pPr marL="800100" lvl="1" indent="-342900">
              <a:buAutoNum type="arabicPeriod"/>
            </a:pPr>
            <a:r>
              <a:rPr lang="fr-FR" dirty="0" err="1"/>
              <a:t>Feature</a:t>
            </a:r>
            <a:r>
              <a:rPr lang="fr-FR" dirty="0"/>
              <a:t> </a:t>
            </a:r>
            <a:r>
              <a:rPr lang="fr-FR" dirty="0" err="1"/>
              <a:t>selection</a:t>
            </a:r>
            <a:r>
              <a:rPr lang="fr-FR" dirty="0"/>
              <a:t> (2 </a:t>
            </a:r>
            <a:r>
              <a:rPr lang="fr-FR" dirty="0" err="1"/>
              <a:t>methods</a:t>
            </a:r>
            <a:r>
              <a:rPr lang="fr-FR" dirty="0"/>
              <a:t> to compare)</a:t>
            </a:r>
          </a:p>
          <a:p>
            <a:pPr marL="800100" lvl="1" indent="-342900">
              <a:buFontTx/>
              <a:buAutoNum type="arabicPeriod"/>
            </a:pPr>
            <a:r>
              <a:rPr lang="fr-FR" dirty="0" err="1"/>
              <a:t>Feature</a:t>
            </a:r>
            <a:r>
              <a:rPr lang="fr-FR" dirty="0"/>
              <a:t> extraction (2 </a:t>
            </a:r>
            <a:r>
              <a:rPr lang="fr-FR" dirty="0" err="1"/>
              <a:t>methods</a:t>
            </a:r>
            <a:r>
              <a:rPr lang="fr-FR" dirty="0"/>
              <a:t> to compare)</a:t>
            </a:r>
          </a:p>
          <a:p>
            <a:pPr marL="800100" lvl="1" indent="-342900">
              <a:buAutoNum type="arabicPeriod"/>
            </a:pPr>
            <a:r>
              <a:rPr lang="fr-FR" dirty="0"/>
              <a:t>Classification </a:t>
            </a:r>
          </a:p>
          <a:p>
            <a:pPr marL="800100" lvl="1" indent="-342900">
              <a:buAutoNum type="arabicPeriod"/>
            </a:pPr>
            <a:r>
              <a:rPr lang="fr-FR" i="1" dirty="0" err="1"/>
              <a:t>Feature</a:t>
            </a:r>
            <a:r>
              <a:rPr lang="fr-FR" i="1" dirty="0"/>
              <a:t> importance ?</a:t>
            </a:r>
          </a:p>
        </p:txBody>
      </p:sp>
      <p:pic>
        <p:nvPicPr>
          <p:cNvPr id="6" name="Picture 2" descr="Feature Selection Techniques in Machine Learning">
            <a:extLst>
              <a:ext uri="{FF2B5EF4-FFF2-40B4-BE49-F238E27FC236}">
                <a16:creationId xmlns:a16="http://schemas.microsoft.com/office/drawing/2014/main" id="{CB5D0738-B38B-FDA6-23A9-73EE5DA1FF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67" b="5991"/>
          <a:stretch/>
        </p:blipFill>
        <p:spPr bwMode="auto">
          <a:xfrm>
            <a:off x="6713962" y="0"/>
            <a:ext cx="5120284" cy="4047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B2AA031F-5100-03A8-22C9-3062A557E590}"/>
              </a:ext>
            </a:extLst>
          </p:cNvPr>
          <p:cNvSpPr txBox="1"/>
          <p:nvPr/>
        </p:nvSpPr>
        <p:spPr>
          <a:xfrm>
            <a:off x="6789907" y="3904509"/>
            <a:ext cx="569925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u="sng" dirty="0"/>
              <a:t>Feature extraction methods</a:t>
            </a:r>
          </a:p>
          <a:p>
            <a:pPr algn="just"/>
            <a:r>
              <a:rPr lang="en-US" sz="1600" b="1" dirty="0"/>
              <a:t>Examples of linear methods</a:t>
            </a:r>
            <a:r>
              <a:rPr lang="en-US" sz="1600" dirty="0"/>
              <a:t>: 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US" sz="1600" dirty="0"/>
              <a:t>High dimensional discriminant analysis (HDDA)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US" sz="1600" dirty="0"/>
              <a:t>Principal Component Analysis (PCA)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US" sz="1600" dirty="0"/>
              <a:t>Mixture of </a:t>
            </a:r>
            <a:r>
              <a:rPr lang="en-US" sz="1600" dirty="0" err="1"/>
              <a:t>probalistic</a:t>
            </a:r>
            <a:r>
              <a:rPr lang="en-US" sz="1600" dirty="0"/>
              <a:t> PCA (MPPCA)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US" sz="1600" dirty="0"/>
              <a:t>Factor analysis (FA)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US" sz="1600" dirty="0"/>
              <a:t>Partial Least Squares Discriminant Analysis (PLS-DA)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b="1" dirty="0"/>
              <a:t>Examples of non-linear methods</a:t>
            </a:r>
            <a:r>
              <a:rPr lang="en-US" sz="1600" dirty="0"/>
              <a:t>: 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Gaussian Process Latent Variable Modeling (GPLVM)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Kernel PCA (KPCA)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Variational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</a:rPr>
              <a:t>AutoEncoder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 (VAE)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0209064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21349</TotalTime>
  <Words>1219</Words>
  <Application>Microsoft Macintosh PowerPoint</Application>
  <PresentationFormat>Grand écran</PresentationFormat>
  <Paragraphs>190</Paragraphs>
  <Slides>22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Wingdings</vt:lpstr>
      <vt:lpstr>Thème Office</vt:lpstr>
      <vt:lpstr>TP2: Practical experimentation of algorithms for multi-omics integration for sample stratification </vt:lpstr>
      <vt:lpstr>Sample stratification</vt:lpstr>
      <vt:lpstr>Goal</vt:lpstr>
      <vt:lpstr>Workflow</vt:lpstr>
      <vt:lpstr>Step 1: Feature Selection</vt:lpstr>
      <vt:lpstr>Step 2: Feature Extraction</vt:lpstr>
      <vt:lpstr>Step 3: Classification</vt:lpstr>
      <vt:lpstr>Omics data</vt:lpstr>
      <vt:lpstr>Query the TCGA database with R</vt:lpstr>
      <vt:lpstr>Query the TCGA database with R</vt:lpstr>
      <vt:lpstr>Query the TCGA database with R</vt:lpstr>
      <vt:lpstr>Query the TCGA database with R</vt:lpstr>
      <vt:lpstr>Query the TCGA database with R</vt:lpstr>
      <vt:lpstr>Query the TCGA database with R</vt:lpstr>
      <vt:lpstr>Query the TCGA database with R</vt:lpstr>
      <vt:lpstr>Query the TCGA database with R</vt:lpstr>
      <vt:lpstr>Query the TCGA database with R</vt:lpstr>
      <vt:lpstr>Query the TCGA database with R</vt:lpstr>
      <vt:lpstr>Query the TCGA database with R</vt:lpstr>
      <vt:lpstr>Metabolomics data</vt:lpstr>
      <vt:lpstr>Summary</vt:lpstr>
      <vt:lpstr>Your turn to play!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TP2: practical experimentation of algorithms for multi-omics integration for sample stratification </dc:title>
  <dc:creator>Justine Labory</dc:creator>
  <cp:lastModifiedBy>Justine Labory</cp:lastModifiedBy>
  <cp:revision>24</cp:revision>
  <dcterms:created xsi:type="dcterms:W3CDTF">2024-01-29T10:02:41Z</dcterms:created>
  <dcterms:modified xsi:type="dcterms:W3CDTF">2024-02-13T06:57:36Z</dcterms:modified>
</cp:coreProperties>
</file>