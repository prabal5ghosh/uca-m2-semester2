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57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0"/>
    <p:restoredTop sz="94658"/>
  </p:normalViewPr>
  <p:slideViewPr>
    <p:cSldViewPr snapToGrid="0">
      <p:cViewPr varScale="1">
        <p:scale>
          <a:sx n="120" d="100"/>
          <a:sy n="120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BD3501-45AC-B848-B67E-59CD9EDC1EE8}" type="datetimeFigureOut">
              <a:rPr lang="fr-FR" smtClean="0"/>
              <a:t>19/02/2024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2F44AE-B16B-D541-B940-AF46E39B23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1866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2F44AE-B16B-D541-B940-AF46E39B23A5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588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BCAE27-12AC-382E-71BB-46692E8A3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65D6E5F-DB2B-F868-F045-F4CAC2DE9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F3D608-E50D-08BB-7EC0-A0FAC1B31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E762-AAB3-6741-9358-B2DB8E95F413}" type="datetimeFigureOut">
              <a:rPr lang="fr-FR" smtClean="0"/>
              <a:t>18/02/2024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29BFA-51C2-040D-7322-29B18CF8B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5980BE-E5CC-15C6-9871-FD0A6570D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56FE3-B3A0-C34E-B283-DCC1681626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7976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3B37F0-036B-5A43-36CD-47D598ADB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DCE092-BCDB-F8BD-D064-F602B8E69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78E256-EDEE-D8EA-0049-075013854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E762-AAB3-6741-9358-B2DB8E95F413}" type="datetimeFigureOut">
              <a:rPr lang="fr-FR" smtClean="0"/>
              <a:t>18/02/2024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DE7DD2-F7A4-F1F5-C147-36F1492E4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7A81EE-7F63-9466-344C-C870987E5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56FE3-B3A0-C34E-B283-DCC1681626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2400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80EF-AFE9-3A10-2247-E73B08B6B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836534-E673-74F9-BF83-DC9AECF7A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71E20D-778C-C98C-7322-427D1FAE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E762-AAB3-6741-9358-B2DB8E95F413}" type="datetimeFigureOut">
              <a:rPr lang="fr-FR" smtClean="0"/>
              <a:t>18/02/2024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3FFDBB-25D4-B75A-3B30-5BD0614A1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1FE30B-CEC0-81B8-2005-5BD1C4339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56FE3-B3A0-C34E-B283-DCC1681626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2461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DE2473-D0BB-29F6-F54A-B14B110DD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AC8723-9B08-0432-E12D-1646AF428B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21A668-7C9A-9496-94F8-8AC49B6EC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E4B0477-74ED-8EC2-A1C3-0FB4F221B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E762-AAB3-6741-9358-B2DB8E95F413}" type="datetimeFigureOut">
              <a:rPr lang="fr-FR" smtClean="0"/>
              <a:t>18/02/2024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2B43F5F-C2C3-4C84-A544-F0CA5B5CA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EF06062-7A15-C9B5-C0DD-1FDC92B5A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56FE3-B3A0-C34E-B283-DCC1681626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3563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D1FB-3567-1204-16B7-D45B28DE5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128D53-9BA6-F83E-7200-8B649CD26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B2EFC2D-3F7B-CADC-20BB-D899808EA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69B32EF-15C6-E3D3-731F-A81ED0EBD1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1C0133-95F9-F44C-32B8-DC0F6140FB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CDD6975-F7ED-F2A6-64A9-22E3C5BAF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E762-AAB3-6741-9358-B2DB8E95F413}" type="datetimeFigureOut">
              <a:rPr lang="fr-FR" smtClean="0"/>
              <a:t>18/02/2024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708759E-AF2E-A090-8A63-C0A8B2B5B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EDC2C65-E8FA-DF48-4D7F-18F3523E3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56FE3-B3A0-C34E-B283-DCC1681626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2637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C36A5B-6146-C673-AA6A-0668E3679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C9E6E67-11CF-E5FC-0EB7-17F3CDB5E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E762-AAB3-6741-9358-B2DB8E95F413}" type="datetimeFigureOut">
              <a:rPr lang="fr-FR" smtClean="0"/>
              <a:t>18/02/2024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4028F57-0E57-2D43-8A63-399CD75E2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9B05EC6-9344-6C90-36DE-ED09FF506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56FE3-B3A0-C34E-B283-DCC1681626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8882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FFEBBBC-6A51-14C2-6165-543ED1F4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E762-AAB3-6741-9358-B2DB8E95F413}" type="datetimeFigureOut">
              <a:rPr lang="fr-FR" smtClean="0"/>
              <a:t>18/02/2024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4673B89-C5F9-A20B-B63F-9CD60109B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E57B9B-6B8C-DF16-3F9A-FB44DDEBB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56FE3-B3A0-C34E-B283-DCC1681626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7600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C0377C-1F5A-F0B6-F84A-31BAEB552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674064-3960-2EE8-5C16-433E2EF28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3A4D1FB-E585-E5F7-0F9E-0A7CA7A60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AF50093-9536-B357-DB13-B19743759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E762-AAB3-6741-9358-B2DB8E95F413}" type="datetimeFigureOut">
              <a:rPr lang="fr-FR" smtClean="0"/>
              <a:t>18/02/2024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DC41BFF-F5F3-2455-1B46-15CC96D37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E511F23-6024-B216-6E47-1DA64F708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56FE3-B3A0-C34E-B283-DCC1681626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477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077124-1D3C-130C-9A34-01635CF4C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5814936-E85D-7A6B-E793-19E6B7BD5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453A74-CEDC-38DF-9125-E2FA50B79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E0B437F-2745-84F3-5FDA-10729CD6A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E762-AAB3-6741-9358-B2DB8E95F413}" type="datetimeFigureOut">
              <a:rPr lang="fr-FR" smtClean="0"/>
              <a:t>18/02/2024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5502DE2-A341-4865-4847-472222093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7E9BB3-7AC2-C300-EC08-1218364E7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56FE3-B3A0-C34E-B283-DCC1681626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8056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5AAAA5-C618-0D9D-CFF0-D55575257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85F2040-7EA9-CCE4-F568-2D6240135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A8C507-1A46-16D8-630B-E5F7212B6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E762-AAB3-6741-9358-B2DB8E95F413}" type="datetimeFigureOut">
              <a:rPr lang="fr-FR" smtClean="0"/>
              <a:t>18/02/2024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0268C9-84F7-6D0B-EA2F-67854E67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7CDB31-7604-C494-78E5-DC9860B12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56FE3-B3A0-C34E-B283-DCC1681626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4729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DA223F2-E5D7-8306-1086-DFCB4A9BA7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E7C5949-AB4E-C5E1-8D50-406DF48D0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97C160-1790-9646-7924-5C58FFCA4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E762-AAB3-6741-9358-B2DB8E95F413}" type="datetimeFigureOut">
              <a:rPr lang="fr-FR" smtClean="0"/>
              <a:t>18/02/2024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00A7A7-7725-1A88-3C1A-B5D11812C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675C40-5A67-247E-C026-C6577020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56FE3-B3A0-C34E-B283-DCC1681626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2260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70DB304-7B61-681E-2212-89A9174F4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E30501-1ED5-7277-B52F-38511EFFB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29B461-F499-3652-B22A-CD25A2F4CE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2E762-AAB3-6741-9358-B2DB8E95F413}" type="datetimeFigureOut">
              <a:rPr lang="fr-FR" smtClean="0"/>
              <a:t>18/02/2024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FB26F3-ADBE-E03C-D328-67B71D1168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E50AC0-4149-B6BC-FB35-8327278EF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956FE3-B3A0-C34E-B283-DCC1681626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441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9AE2A-F227-2B88-8D2D-D6E72C15F0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TP 3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6EF8BA4-5A6F-D62C-D61B-0F8C010D3C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Article </a:t>
            </a:r>
            <a:r>
              <a:rPr lang="fr-FR" dirty="0" err="1"/>
              <a:t>Presentation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9025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EB309A32-57BB-67FD-E30C-1D98DEF90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Articles </a:t>
            </a:r>
          </a:p>
        </p:txBody>
      </p:sp>
      <p:pic>
        <p:nvPicPr>
          <p:cNvPr id="6" name="Image 5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735294A7-B531-2347-C8E9-2D65B65FC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890"/>
            <a:ext cx="7772400" cy="251954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B9DEDBC-5E28-96C8-3610-2F34F5D2C3C7}"/>
              </a:ext>
            </a:extLst>
          </p:cNvPr>
          <p:cNvSpPr txBox="1"/>
          <p:nvPr/>
        </p:nvSpPr>
        <p:spPr>
          <a:xfrm>
            <a:off x="7772400" y="2014330"/>
            <a:ext cx="42742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About joint </a:t>
            </a:r>
            <a:r>
              <a:rPr lang="fr-FR" dirty="0" err="1"/>
              <a:t>Dimensionality</a:t>
            </a:r>
            <a:r>
              <a:rPr lang="fr-FR" dirty="0"/>
              <a:t> Reduction (</a:t>
            </a:r>
            <a:r>
              <a:rPr lang="fr-FR" dirty="0" err="1"/>
              <a:t>jDR</a:t>
            </a:r>
            <a:r>
              <a:rPr lang="fr-FR" dirty="0"/>
              <a:t>) </a:t>
            </a:r>
            <a:r>
              <a:rPr lang="fr-FR" dirty="0" err="1"/>
              <a:t>methods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Complete benchmark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simulated</a:t>
            </a:r>
            <a:r>
              <a:rPr lang="fr-FR" dirty="0"/>
              <a:t> data, TCGA data and Single </a:t>
            </a:r>
            <a:r>
              <a:rPr lang="fr-FR" dirty="0" err="1"/>
              <a:t>cell</a:t>
            </a:r>
            <a:r>
              <a:rPr lang="fr-FR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956851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7709904A-6900-1FEC-DB62-41123128A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" y="1974850"/>
            <a:ext cx="7772400" cy="1891476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8CC86249-F858-1118-0CA1-C54337A2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Articles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4681633-B2C7-22D1-45F0-7D0AAF9ED359}"/>
              </a:ext>
            </a:extLst>
          </p:cNvPr>
          <p:cNvSpPr txBox="1"/>
          <p:nvPr/>
        </p:nvSpPr>
        <p:spPr>
          <a:xfrm>
            <a:off x="8441842" y="2094465"/>
            <a:ext cx="362950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Factor </a:t>
            </a:r>
            <a:r>
              <a:rPr lang="fr-FR" dirty="0" err="1"/>
              <a:t>Analysis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Modeling high-</a:t>
            </a:r>
            <a:r>
              <a:rPr lang="fr-FR" dirty="0" err="1"/>
              <a:t>dimensional</a:t>
            </a:r>
            <a:r>
              <a:rPr lang="fr-FR" dirty="0"/>
              <a:t>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Spatial and temporal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Application on </a:t>
            </a:r>
            <a:r>
              <a:rPr lang="fr-FR" dirty="0" err="1"/>
              <a:t>organ</a:t>
            </a:r>
            <a:r>
              <a:rPr lang="fr-FR" dirty="0"/>
              <a:t> </a:t>
            </a:r>
            <a:r>
              <a:rPr lang="fr-FR" dirty="0" err="1"/>
              <a:t>development</a:t>
            </a:r>
            <a:r>
              <a:rPr lang="fr-FR" dirty="0"/>
              <a:t>, microbiome </a:t>
            </a:r>
            <a:r>
              <a:rPr lang="fr-FR" dirty="0" err="1"/>
              <a:t>study</a:t>
            </a:r>
            <a:r>
              <a:rPr lang="fr-FR" dirty="0"/>
              <a:t>, single-</a:t>
            </a:r>
            <a:r>
              <a:rPr lang="fr-FR" dirty="0" err="1"/>
              <a:t>cell</a:t>
            </a:r>
            <a:r>
              <a:rPr lang="fr-FR" dirty="0"/>
              <a:t> multi-</a:t>
            </a:r>
            <a:r>
              <a:rPr lang="fr-FR" dirty="0" err="1"/>
              <a:t>omics</a:t>
            </a:r>
            <a:r>
              <a:rPr lang="fr-FR" dirty="0"/>
              <a:t> atlas of mouse gastrulation and </a:t>
            </a:r>
            <a:r>
              <a:rPr lang="fr-FR" dirty="0" err="1"/>
              <a:t>spatially</a:t>
            </a:r>
            <a:r>
              <a:rPr lang="fr-FR" dirty="0"/>
              <a:t> </a:t>
            </a:r>
            <a:r>
              <a:rPr lang="fr-FR" dirty="0" err="1"/>
              <a:t>resolved</a:t>
            </a:r>
            <a:r>
              <a:rPr lang="fr-FR" dirty="0"/>
              <a:t> </a:t>
            </a:r>
            <a:r>
              <a:rPr lang="fr-FR" dirty="0" err="1"/>
              <a:t>transcriptomics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8145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F58AB90F-6352-5702-CE31-B0326C5BB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Articles </a:t>
            </a:r>
          </a:p>
        </p:txBody>
      </p:sp>
      <p:pic>
        <p:nvPicPr>
          <p:cNvPr id="6" name="Image 5" descr="Une image contenant texte, Police, blanc, capture d’écran&#10;&#10;Description générée automatiquement">
            <a:extLst>
              <a:ext uri="{FF2B5EF4-FFF2-40B4-BE49-F238E27FC236}">
                <a16:creationId xmlns:a16="http://schemas.microsoft.com/office/drawing/2014/main" id="{6259D60E-57D6-BB9A-BC5F-36E19AFE7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" y="1861018"/>
            <a:ext cx="6329293" cy="156798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45937A5-65C2-4FAF-DC37-A4FF19F45378}"/>
              </a:ext>
            </a:extLst>
          </p:cNvPr>
          <p:cNvSpPr txBox="1"/>
          <p:nvPr/>
        </p:nvSpPr>
        <p:spPr>
          <a:xfrm>
            <a:off x="8441842" y="2094465"/>
            <a:ext cx="362950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Multivariate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 of </a:t>
            </a:r>
            <a:r>
              <a:rPr lang="fr-FR" dirty="0" err="1"/>
              <a:t>biological</a:t>
            </a:r>
            <a:r>
              <a:rPr lang="fr-FR" dirty="0"/>
              <a:t> data 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Projection to Latent Structure (PLS) </a:t>
            </a:r>
            <a:r>
              <a:rPr lang="fr-FR" dirty="0" err="1"/>
              <a:t>models</a:t>
            </a:r>
            <a:r>
              <a:rPr lang="fr-FR" dirty="0"/>
              <a:t> for discriminant </a:t>
            </a:r>
            <a:r>
              <a:rPr lang="fr-FR" dirty="0" err="1"/>
              <a:t>analysis</a:t>
            </a:r>
            <a:r>
              <a:rPr lang="fr-FR" dirty="0"/>
              <a:t>, for data </a:t>
            </a:r>
            <a:r>
              <a:rPr lang="fr-FR" dirty="0" err="1"/>
              <a:t>integration</a:t>
            </a:r>
            <a:r>
              <a:rPr lang="fr-FR" dirty="0"/>
              <a:t> </a:t>
            </a:r>
            <a:r>
              <a:rPr lang="fr-FR" dirty="0" err="1"/>
              <a:t>across</a:t>
            </a:r>
            <a:r>
              <a:rPr lang="fr-FR" dirty="0"/>
              <a:t> multi-</a:t>
            </a:r>
            <a:r>
              <a:rPr lang="fr-FR" dirty="0" err="1"/>
              <a:t>omics</a:t>
            </a:r>
            <a:r>
              <a:rPr lang="fr-FR" dirty="0"/>
              <a:t> data and for the identification of </a:t>
            </a:r>
            <a:r>
              <a:rPr lang="fr-FR" dirty="0" err="1"/>
              <a:t>molecular</a:t>
            </a:r>
            <a:r>
              <a:rPr lang="fr-FR" dirty="0"/>
              <a:t> signatures.</a:t>
            </a:r>
          </a:p>
        </p:txBody>
      </p:sp>
    </p:spTree>
    <p:extLst>
      <p:ext uri="{BB962C8B-B14F-4D97-AF65-F5344CB8AC3E}">
        <p14:creationId xmlns:p14="http://schemas.microsoft.com/office/powerpoint/2010/main" val="3168782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BDDCC358-4959-AC7C-9E5A-2736F2BB3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Articles </a:t>
            </a:r>
          </a:p>
        </p:txBody>
      </p:sp>
      <p:pic>
        <p:nvPicPr>
          <p:cNvPr id="6" name="Image 5" descr="Une image contenant texte, Police, capture d’écran, blanc&#10;&#10;Description générée automatiquement">
            <a:extLst>
              <a:ext uri="{FF2B5EF4-FFF2-40B4-BE49-F238E27FC236}">
                <a16:creationId xmlns:a16="http://schemas.microsoft.com/office/drawing/2014/main" id="{42328AA7-4570-7885-897D-C02FEF305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59" y="1836253"/>
            <a:ext cx="6758413" cy="159274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8B3C73C-F639-67DE-C057-6CF756E6F948}"/>
              </a:ext>
            </a:extLst>
          </p:cNvPr>
          <p:cNvSpPr txBox="1"/>
          <p:nvPr/>
        </p:nvSpPr>
        <p:spPr>
          <a:xfrm>
            <a:off x="8441842" y="2094465"/>
            <a:ext cx="36295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Factor </a:t>
            </a:r>
            <a:r>
              <a:rPr lang="fr-FR" dirty="0" err="1"/>
              <a:t>Analysis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Identification of </a:t>
            </a:r>
            <a:r>
              <a:rPr lang="fr-FR" dirty="0" err="1"/>
              <a:t>common</a:t>
            </a:r>
            <a:r>
              <a:rPr lang="fr-FR" dirty="0"/>
              <a:t> </a:t>
            </a:r>
            <a:r>
              <a:rPr lang="fr-FR" dirty="0" err="1"/>
              <a:t>factors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drive </a:t>
            </a:r>
            <a:r>
              <a:rPr lang="fr-FR" dirty="0" err="1"/>
              <a:t>variability</a:t>
            </a:r>
            <a:r>
              <a:rPr lang="fr-FR" dirty="0"/>
              <a:t> </a:t>
            </a:r>
            <a:r>
              <a:rPr lang="fr-FR" dirty="0" err="1"/>
              <a:t>across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 data </a:t>
            </a:r>
            <a:r>
              <a:rPr lang="fr-FR" dirty="0" err="1"/>
              <a:t>modalities</a:t>
            </a:r>
            <a:r>
              <a:rPr lang="fr-FR" dirty="0"/>
              <a:t>, </a:t>
            </a:r>
            <a:r>
              <a:rPr lang="fr-FR" dirty="0" err="1"/>
              <a:t>allowing</a:t>
            </a:r>
            <a:r>
              <a:rPr lang="fr-FR" dirty="0"/>
              <a:t> </a:t>
            </a:r>
            <a:r>
              <a:rPr lang="fr-FR" dirty="0" err="1"/>
              <a:t>researchers</a:t>
            </a:r>
            <a:r>
              <a:rPr lang="fr-FR" dirty="0"/>
              <a:t> to </a:t>
            </a:r>
            <a:r>
              <a:rPr lang="fr-FR" dirty="0" err="1"/>
              <a:t>uncover</a:t>
            </a:r>
            <a:r>
              <a:rPr lang="fr-FR" dirty="0"/>
              <a:t> </a:t>
            </a:r>
            <a:r>
              <a:rPr lang="fr-FR" dirty="0" err="1"/>
              <a:t>hidden</a:t>
            </a:r>
            <a:r>
              <a:rPr lang="fr-FR" dirty="0"/>
              <a:t> patterns and </a:t>
            </a:r>
            <a:r>
              <a:rPr lang="fr-FR" dirty="0" err="1"/>
              <a:t>relationships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3755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37BAD5CB-DBE7-E9D8-440C-D204E943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Articles </a:t>
            </a:r>
          </a:p>
        </p:txBody>
      </p:sp>
      <p:pic>
        <p:nvPicPr>
          <p:cNvPr id="6" name="Image 5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FD707CBF-5452-C6BA-1DC6-A6F24477D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5" y="1932678"/>
            <a:ext cx="7772400" cy="246539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D5DBA6F-0CCB-2D96-533C-8545EDFB4BA5}"/>
              </a:ext>
            </a:extLst>
          </p:cNvPr>
          <p:cNvSpPr txBox="1"/>
          <p:nvPr/>
        </p:nvSpPr>
        <p:spPr>
          <a:xfrm>
            <a:off x="8441842" y="2094465"/>
            <a:ext cx="362950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Graph </a:t>
            </a:r>
            <a:r>
              <a:rPr lang="fr-FR" dirty="0" err="1"/>
              <a:t>Convolutional</a:t>
            </a:r>
            <a:r>
              <a:rPr lang="fr-FR" dirty="0"/>
              <a:t> Network (</a:t>
            </a:r>
            <a:r>
              <a:rPr lang="fr-FR" dirty="0" err="1"/>
              <a:t>GCNs</a:t>
            </a:r>
            <a:r>
              <a:rPr lang="fr-F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Supervised</a:t>
            </a:r>
            <a:r>
              <a:rPr lang="fr-FR" dirty="0"/>
              <a:t> multi-</a:t>
            </a:r>
            <a:r>
              <a:rPr lang="fr-FR" dirty="0" err="1"/>
              <a:t>omics</a:t>
            </a:r>
            <a:r>
              <a:rPr lang="fr-FR" dirty="0"/>
              <a:t> </a:t>
            </a:r>
            <a:r>
              <a:rPr lang="fr-FR" dirty="0" err="1"/>
              <a:t>integrative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 </a:t>
            </a:r>
            <a:r>
              <a:rPr lang="fr-FR" dirty="0" err="1"/>
              <a:t>approach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Omics-specific</a:t>
            </a:r>
            <a:r>
              <a:rPr lang="fr-FR" dirty="0"/>
              <a:t> </a:t>
            </a:r>
            <a:r>
              <a:rPr lang="fr-FR" dirty="0" err="1"/>
              <a:t>learning</a:t>
            </a:r>
            <a:r>
              <a:rPr lang="fr-FR" dirty="0"/>
              <a:t> and cross-</a:t>
            </a:r>
            <a:r>
              <a:rPr lang="fr-FR" dirty="0" err="1"/>
              <a:t>omics</a:t>
            </a:r>
            <a:r>
              <a:rPr lang="fr-FR" dirty="0"/>
              <a:t> </a:t>
            </a:r>
            <a:r>
              <a:rPr lang="fr-FR" dirty="0" err="1"/>
              <a:t>correlation</a:t>
            </a:r>
            <a:r>
              <a:rPr lang="fr-FR" dirty="0"/>
              <a:t> </a:t>
            </a:r>
            <a:r>
              <a:rPr lang="fr-FR" dirty="0" err="1"/>
              <a:t>learning</a:t>
            </a:r>
            <a:r>
              <a:rPr lang="fr-FR" dirty="0"/>
              <a:t> for multi-</a:t>
            </a:r>
            <a:r>
              <a:rPr lang="fr-FR" dirty="0" err="1"/>
              <a:t>omics</a:t>
            </a:r>
            <a:r>
              <a:rPr lang="fr-FR" dirty="0"/>
              <a:t> data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151006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99C0925F-DF62-B969-8CE7-9E2B07C9C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Articles </a:t>
            </a:r>
          </a:p>
        </p:txBody>
      </p:sp>
      <p:pic>
        <p:nvPicPr>
          <p:cNvPr id="6" name="Image 5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930961F2-1701-3EFB-CEA6-704E6D057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1371600"/>
            <a:ext cx="7772400" cy="270199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182E20B-98A4-FD87-FFAE-7A1F73B6F109}"/>
              </a:ext>
            </a:extLst>
          </p:cNvPr>
          <p:cNvSpPr txBox="1"/>
          <p:nvPr/>
        </p:nvSpPr>
        <p:spPr>
          <a:xfrm>
            <a:off x="8441842" y="2094465"/>
            <a:ext cx="362950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Transformers, </a:t>
            </a:r>
            <a:r>
              <a:rPr lang="fr-FR" dirty="0" err="1"/>
              <a:t>Similarity</a:t>
            </a:r>
            <a:r>
              <a:rPr lang="fr-FR" dirty="0"/>
              <a:t> Network Fusion (SNF) and Graph </a:t>
            </a:r>
            <a:r>
              <a:rPr lang="fr-FR" dirty="0" err="1"/>
              <a:t>Convolutional</a:t>
            </a:r>
            <a:r>
              <a:rPr lang="fr-FR" dirty="0"/>
              <a:t> Network (</a:t>
            </a:r>
            <a:r>
              <a:rPr lang="fr-FR" dirty="0" err="1"/>
              <a:t>GCNs</a:t>
            </a:r>
            <a:r>
              <a:rPr lang="fr-F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Semi-</a:t>
            </a:r>
            <a:r>
              <a:rPr lang="fr-FR" dirty="0" err="1"/>
              <a:t>supervised</a:t>
            </a:r>
            <a:r>
              <a:rPr lang="fr-FR" dirty="0"/>
              <a:t> multi-</a:t>
            </a:r>
            <a:r>
              <a:rPr lang="fr-FR" dirty="0" err="1"/>
              <a:t>omics</a:t>
            </a:r>
            <a:r>
              <a:rPr lang="fr-FR" dirty="0"/>
              <a:t> </a:t>
            </a:r>
            <a:r>
              <a:rPr lang="fr-FR" dirty="0" err="1"/>
              <a:t>integrative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 </a:t>
            </a:r>
            <a:r>
              <a:rPr lang="fr-FR" dirty="0" err="1"/>
              <a:t>approach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Learn</a:t>
            </a:r>
            <a:r>
              <a:rPr lang="fr-FR" dirty="0"/>
              <a:t> the </a:t>
            </a:r>
            <a:r>
              <a:rPr lang="fr-FR" dirty="0" err="1"/>
              <a:t>inherent</a:t>
            </a:r>
            <a:r>
              <a:rPr lang="fr-FR" dirty="0"/>
              <a:t> </a:t>
            </a:r>
            <a:r>
              <a:rPr lang="fr-FR" dirty="0" err="1"/>
              <a:t>correlations</a:t>
            </a:r>
            <a:r>
              <a:rPr lang="fr-FR" dirty="0"/>
              <a:t> of latent </a:t>
            </a:r>
            <a:r>
              <a:rPr lang="fr-FR" dirty="0" err="1"/>
              <a:t>features</a:t>
            </a:r>
            <a:r>
              <a:rPr lang="fr-FR" dirty="0"/>
              <a:t> </a:t>
            </a:r>
            <a:r>
              <a:rPr lang="fr-FR" dirty="0" err="1"/>
              <a:t>within</a:t>
            </a:r>
            <a:r>
              <a:rPr lang="fr-FR" dirty="0"/>
              <a:t> and </a:t>
            </a:r>
            <a:r>
              <a:rPr lang="fr-FR" dirty="0" err="1"/>
              <a:t>among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omics</a:t>
            </a:r>
            <a:r>
              <a:rPr lang="fr-FR" dirty="0"/>
              <a:t> and </a:t>
            </a:r>
            <a:r>
              <a:rPr lang="fr-FR" dirty="0" err="1"/>
              <a:t>feeds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learned</a:t>
            </a:r>
            <a:r>
              <a:rPr lang="fr-FR" dirty="0"/>
              <a:t> information </a:t>
            </a:r>
            <a:r>
              <a:rPr lang="fr-FR" dirty="0" err="1"/>
              <a:t>into</a:t>
            </a:r>
            <a:r>
              <a:rPr lang="fr-FR" dirty="0"/>
              <a:t> a GCN.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Applications on Alzheimer </a:t>
            </a:r>
            <a:r>
              <a:rPr lang="fr-FR" dirty="0" err="1"/>
              <a:t>disease</a:t>
            </a:r>
            <a:r>
              <a:rPr lang="fr-FR" dirty="0"/>
              <a:t> and </a:t>
            </a:r>
            <a:r>
              <a:rPr lang="fr-FR" dirty="0" err="1"/>
              <a:t>breast</a:t>
            </a:r>
            <a:r>
              <a:rPr lang="fr-FR" dirty="0"/>
              <a:t> cancer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8183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5DA857-5580-D088-3494-2D73247D1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Articles</a:t>
            </a:r>
          </a:p>
        </p:txBody>
      </p:sp>
      <p:pic>
        <p:nvPicPr>
          <p:cNvPr id="5" name="Image 4" descr="Une image contenant texte, Police, blanc, capture d’écran&#10;&#10;Description générée automatiquement">
            <a:extLst>
              <a:ext uri="{FF2B5EF4-FFF2-40B4-BE49-F238E27FC236}">
                <a16:creationId xmlns:a16="http://schemas.microsoft.com/office/drawing/2014/main" id="{22E27B7C-03AA-1E18-C732-27DF8E31D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" y="2089150"/>
            <a:ext cx="7772400" cy="189592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D8D7211-BDA1-936C-B89D-4712D12DEC47}"/>
              </a:ext>
            </a:extLst>
          </p:cNvPr>
          <p:cNvSpPr txBox="1"/>
          <p:nvPr/>
        </p:nvSpPr>
        <p:spPr>
          <a:xfrm>
            <a:off x="8441842" y="2094465"/>
            <a:ext cx="362950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Variational</a:t>
            </a:r>
            <a:r>
              <a:rPr lang="fr-FR" dirty="0"/>
              <a:t> </a:t>
            </a:r>
            <a:r>
              <a:rPr lang="fr-FR" dirty="0" err="1"/>
              <a:t>autoencoder</a:t>
            </a:r>
            <a:r>
              <a:rPr lang="fr-FR" dirty="0"/>
              <a:t> (VAE)-</a:t>
            </a:r>
            <a:r>
              <a:rPr lang="fr-FR" dirty="0" err="1"/>
              <a:t>based</a:t>
            </a:r>
            <a:r>
              <a:rPr lang="fr-FR" dirty="0"/>
              <a:t> </a:t>
            </a:r>
            <a:r>
              <a:rPr lang="fr-FR" dirty="0" err="1"/>
              <a:t>interpretable</a:t>
            </a:r>
            <a:r>
              <a:rPr lang="fr-FR" dirty="0"/>
              <a:t> </a:t>
            </a:r>
            <a:r>
              <a:rPr lang="fr-FR" dirty="0" err="1"/>
              <a:t>deep</a:t>
            </a:r>
            <a:r>
              <a:rPr lang="fr-FR" dirty="0"/>
              <a:t> </a:t>
            </a:r>
            <a:r>
              <a:rPr lang="fr-FR" dirty="0" err="1"/>
              <a:t>learning</a:t>
            </a:r>
            <a:r>
              <a:rPr lang="fr-FR" dirty="0"/>
              <a:t> model for cancer classification </a:t>
            </a:r>
            <a:r>
              <a:rPr lang="fr-FR" dirty="0" err="1"/>
              <a:t>using</a:t>
            </a:r>
            <a:r>
              <a:rPr lang="fr-FR" dirty="0"/>
              <a:t> high-</a:t>
            </a:r>
            <a:r>
              <a:rPr lang="fr-FR" dirty="0" err="1"/>
              <a:t>dimensional</a:t>
            </a:r>
            <a:r>
              <a:rPr lang="fr-FR" dirty="0"/>
              <a:t> </a:t>
            </a:r>
            <a:r>
              <a:rPr lang="fr-FR" dirty="0" err="1"/>
              <a:t>omics</a:t>
            </a:r>
            <a:r>
              <a:rPr lang="fr-FR" dirty="0"/>
              <a:t>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Reveal</a:t>
            </a:r>
            <a:r>
              <a:rPr lang="fr-FR" dirty="0"/>
              <a:t> the contribution of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gene</a:t>
            </a:r>
            <a:r>
              <a:rPr lang="fr-FR" dirty="0"/>
              <a:t> and latent dimension for </a:t>
            </a:r>
            <a:r>
              <a:rPr lang="fr-FR" dirty="0" err="1"/>
              <a:t>each</a:t>
            </a:r>
            <a:r>
              <a:rPr lang="fr-FR" dirty="0"/>
              <a:t> classification </a:t>
            </a:r>
            <a:r>
              <a:rPr lang="fr-FR" dirty="0" err="1"/>
              <a:t>prediction</a:t>
            </a:r>
            <a:r>
              <a:rPr lang="fr-FR" dirty="0"/>
              <a:t> and the </a:t>
            </a:r>
            <a:r>
              <a:rPr lang="fr-FR" dirty="0" err="1"/>
              <a:t>correlation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gene</a:t>
            </a:r>
            <a:r>
              <a:rPr lang="fr-FR" dirty="0"/>
              <a:t> and </a:t>
            </a:r>
            <a:r>
              <a:rPr lang="fr-FR" dirty="0" err="1"/>
              <a:t>each</a:t>
            </a:r>
            <a:r>
              <a:rPr lang="fr-FR" dirty="0"/>
              <a:t> latent dimension.</a:t>
            </a:r>
          </a:p>
        </p:txBody>
      </p:sp>
    </p:spTree>
    <p:extLst>
      <p:ext uri="{BB962C8B-B14F-4D97-AF65-F5344CB8AC3E}">
        <p14:creationId xmlns:p14="http://schemas.microsoft.com/office/powerpoint/2010/main" val="4167667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31F6F4-ACB8-C9B6-DFFF-90BB5A678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Instructions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435336-ED4C-0201-67D3-5C491DB3D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Prepare</a:t>
            </a:r>
            <a:r>
              <a:rPr lang="fr-FR" dirty="0"/>
              <a:t> an oral </a:t>
            </a:r>
            <a:r>
              <a:rPr lang="fr-FR" dirty="0" err="1"/>
              <a:t>presentation</a:t>
            </a:r>
            <a:r>
              <a:rPr lang="fr-FR" dirty="0"/>
              <a:t> </a:t>
            </a:r>
            <a:r>
              <a:rPr lang="fr-FR" dirty="0" err="1"/>
              <a:t>explaining</a:t>
            </a:r>
            <a:r>
              <a:rPr lang="fr-FR" dirty="0"/>
              <a:t> the article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choice</a:t>
            </a:r>
            <a:endParaRPr lang="fr-FR" dirty="0"/>
          </a:p>
          <a:p>
            <a:r>
              <a:rPr lang="fr-FR" dirty="0"/>
              <a:t>The oral </a:t>
            </a:r>
            <a:r>
              <a:rPr lang="fr-FR" dirty="0" err="1"/>
              <a:t>presentation</a:t>
            </a:r>
            <a:r>
              <a:rPr lang="fr-FR" dirty="0"/>
              <a:t> </a:t>
            </a:r>
            <a:r>
              <a:rPr lang="fr-FR" dirty="0" err="1"/>
              <a:t>should</a:t>
            </a:r>
            <a:r>
              <a:rPr lang="fr-FR" dirty="0"/>
              <a:t> follow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outline</a:t>
            </a:r>
            <a:r>
              <a:rPr lang="fr-FR" dirty="0"/>
              <a:t>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dirty="0"/>
              <a:t>2 slides for Introduction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dirty="0"/>
              <a:t>2/3 slides </a:t>
            </a:r>
            <a:r>
              <a:rPr lang="fr-FR" dirty="0" err="1"/>
              <a:t>explaining</a:t>
            </a:r>
            <a:r>
              <a:rPr lang="fr-FR" dirty="0"/>
              <a:t> the </a:t>
            </a:r>
            <a:r>
              <a:rPr lang="fr-FR" dirty="0" err="1"/>
              <a:t>method</a:t>
            </a:r>
            <a:endParaRPr lang="fr-FR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fr-FR" dirty="0"/>
              <a:t>2/3 slides </a:t>
            </a:r>
            <a:r>
              <a:rPr lang="fr-FR" dirty="0" err="1"/>
              <a:t>showing</a:t>
            </a:r>
            <a:r>
              <a:rPr lang="fr-FR" dirty="0"/>
              <a:t> the 2/3 </a:t>
            </a:r>
            <a:r>
              <a:rPr lang="fr-FR" dirty="0" err="1"/>
              <a:t>most</a:t>
            </a:r>
            <a:r>
              <a:rPr lang="fr-FR" dirty="0"/>
              <a:t> important </a:t>
            </a:r>
            <a:r>
              <a:rPr lang="fr-FR" dirty="0" err="1"/>
              <a:t>results</a:t>
            </a:r>
            <a:endParaRPr lang="fr-FR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fr-FR" dirty="0"/>
              <a:t>2 slides for conclusion/discussion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C937DE2-2224-82BC-1AFC-014913DA3AA3}"/>
              </a:ext>
            </a:extLst>
          </p:cNvPr>
          <p:cNvSpPr txBox="1"/>
          <p:nvPr/>
        </p:nvSpPr>
        <p:spPr>
          <a:xfrm>
            <a:off x="838200" y="4557528"/>
            <a:ext cx="56425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err="1"/>
              <a:t>Presentation</a:t>
            </a:r>
            <a:r>
              <a:rPr lang="fr-FR" sz="2800" dirty="0"/>
              <a:t> time : 10/15 minutes</a:t>
            </a:r>
          </a:p>
        </p:txBody>
      </p:sp>
    </p:spTree>
    <p:extLst>
      <p:ext uri="{BB962C8B-B14F-4D97-AF65-F5344CB8AC3E}">
        <p14:creationId xmlns:p14="http://schemas.microsoft.com/office/powerpoint/2010/main" val="21036212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</TotalTime>
  <Words>273</Words>
  <Application>Microsoft Macintosh PowerPoint</Application>
  <PresentationFormat>Grand écran</PresentationFormat>
  <Paragraphs>49</Paragraphs>
  <Slides>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Thème Office</vt:lpstr>
      <vt:lpstr>TP 3</vt:lpstr>
      <vt:lpstr>Articles </vt:lpstr>
      <vt:lpstr>Articles </vt:lpstr>
      <vt:lpstr>Articles </vt:lpstr>
      <vt:lpstr>Articles </vt:lpstr>
      <vt:lpstr>Articles </vt:lpstr>
      <vt:lpstr>Articles </vt:lpstr>
      <vt:lpstr>Articles</vt:lpstr>
      <vt:lpstr>Instructions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3</dc:title>
  <dc:creator>Justine Labory</dc:creator>
  <cp:lastModifiedBy>Justine Labory</cp:lastModifiedBy>
  <cp:revision>6</cp:revision>
  <dcterms:created xsi:type="dcterms:W3CDTF">2024-02-18T20:50:31Z</dcterms:created>
  <dcterms:modified xsi:type="dcterms:W3CDTF">2024-02-19T11:09:35Z</dcterms:modified>
</cp:coreProperties>
</file>